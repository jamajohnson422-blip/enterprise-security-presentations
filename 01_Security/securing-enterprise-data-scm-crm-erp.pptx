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64" r:id="rId4"/>
  </p:sldMasterIdLst>
  <p:notesMasterIdLst>
    <p:notesMasterId r:id="rId18"/>
  </p:notesMasterIdLst>
  <p:handoutMasterIdLst>
    <p:handoutMasterId r:id="rId19"/>
  </p:handoutMasterIdLst>
  <p:sldIdLst>
    <p:sldId id="295" r:id="rId5"/>
    <p:sldId id="296" r:id="rId6"/>
    <p:sldId id="304" r:id="rId7"/>
    <p:sldId id="305" r:id="rId8"/>
    <p:sldId id="306" r:id="rId9"/>
    <p:sldId id="307" r:id="rId10"/>
    <p:sldId id="308" r:id="rId11"/>
    <p:sldId id="309" r:id="rId12"/>
    <p:sldId id="310" r:id="rId13"/>
    <p:sldId id="311" r:id="rId14"/>
    <p:sldId id="314" r:id="rId15"/>
    <p:sldId id="313" r:id="rId16"/>
    <p:sldId id="31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1293" autoAdjust="0"/>
  </p:normalViewPr>
  <p:slideViewPr>
    <p:cSldViewPr snapToGrid="0">
      <p:cViewPr varScale="1">
        <p:scale>
          <a:sx n="145" d="100"/>
          <a:sy n="145" d="100"/>
        </p:scale>
        <p:origin x="906" y="120"/>
      </p:cViewPr>
      <p:guideLst/>
    </p:cSldViewPr>
  </p:slideViewPr>
  <p:outlineViewPr>
    <p:cViewPr>
      <p:scale>
        <a:sx n="33" d="100"/>
        <a:sy n="33" d="100"/>
      </p:scale>
      <p:origin x="0" y="-4896"/>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A81869F-F6FC-6A0D-CE07-6B540E550EE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BA6B6C1-6185-79F5-23C8-927538634E4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341E86C-C6B4-424D-8295-67D3386172F0}" type="datetimeFigureOut">
              <a:rPr lang="en-US" smtClean="0"/>
              <a:t>8/19/2026</a:t>
            </a:fld>
            <a:endParaRPr lang="en-US" dirty="0"/>
          </a:p>
        </p:txBody>
      </p:sp>
      <p:sp>
        <p:nvSpPr>
          <p:cNvPr id="4" name="Footer Placeholder 3">
            <a:extLst>
              <a:ext uri="{FF2B5EF4-FFF2-40B4-BE49-F238E27FC236}">
                <a16:creationId xmlns:a16="http://schemas.microsoft.com/office/drawing/2014/main" id="{D875153B-EAEA-CF1E-30D7-16C2E64586B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B72AFB7-47EE-893B-5887-BDC37DCA5F0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F94707-CAF6-40B0-A7EA-C5F3C63CBD6B}" type="slidenum">
              <a:rPr lang="en-US" smtClean="0"/>
              <a:t>‹#›</a:t>
            </a:fld>
            <a:endParaRPr lang="en-US" dirty="0"/>
          </a:p>
        </p:txBody>
      </p:sp>
    </p:spTree>
    <p:extLst>
      <p:ext uri="{BB962C8B-B14F-4D97-AF65-F5344CB8AC3E}">
        <p14:creationId xmlns:p14="http://schemas.microsoft.com/office/powerpoint/2010/main" val="40334112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988D07-B188-44E4-ABBB-6994C1A52936}" type="datetimeFigureOut">
              <a:rPr lang="en-US" smtClean="0"/>
              <a:t>8/19/2026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42455A-0D23-4EAB-9AF9-2CC2B3066B0A}" type="slidenum">
              <a:rPr lang="en-US" smtClean="0"/>
              <a:t>‹#›</a:t>
            </a:fld>
            <a:endParaRPr lang="en-US" dirty="0"/>
          </a:p>
        </p:txBody>
      </p:sp>
    </p:spTree>
    <p:extLst>
      <p:ext uri="{BB962C8B-B14F-4D97-AF65-F5344CB8AC3E}">
        <p14:creationId xmlns:p14="http://schemas.microsoft.com/office/powerpoint/2010/main" val="3904368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42455A-0D23-4EAB-9AF9-2CC2B3066B0A}" type="slidenum">
              <a:rPr lang="en-US" smtClean="0"/>
              <a:t>1</a:t>
            </a:fld>
            <a:endParaRPr lang="en-US" dirty="0"/>
          </a:p>
        </p:txBody>
      </p:sp>
    </p:spTree>
    <p:extLst>
      <p:ext uri="{BB962C8B-B14F-4D97-AF65-F5344CB8AC3E}">
        <p14:creationId xmlns:p14="http://schemas.microsoft.com/office/powerpoint/2010/main" val="2451777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security is paramount in SCM, CRM, and ERP systems as these platforms manage sensitive information that impacts customer relationships, supply chain integrity, and financial operations. A breach can lead to operational disruptions and financial losses."</a:t>
            </a:r>
          </a:p>
        </p:txBody>
      </p:sp>
      <p:sp>
        <p:nvSpPr>
          <p:cNvPr id="4" name="Slide Number Placeholder 3"/>
          <p:cNvSpPr>
            <a:spLocks noGrp="1"/>
          </p:cNvSpPr>
          <p:nvPr>
            <p:ph type="sldNum" sz="quarter" idx="5"/>
          </p:nvPr>
        </p:nvSpPr>
        <p:spPr/>
        <p:txBody>
          <a:bodyPr/>
          <a:lstStyle/>
          <a:p>
            <a:fld id="{0842455A-0D23-4EAB-9AF9-2CC2B3066B0A}" type="slidenum">
              <a:rPr lang="en-US" smtClean="0"/>
              <a:t>2</a:t>
            </a:fld>
            <a:endParaRPr lang="en-US" dirty="0"/>
          </a:p>
        </p:txBody>
      </p:sp>
    </p:spTree>
    <p:extLst>
      <p:ext uri="{BB962C8B-B14F-4D97-AF65-F5344CB8AC3E}">
        <p14:creationId xmlns:p14="http://schemas.microsoft.com/office/powerpoint/2010/main" val="303961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SCM systems are vulnerable to data breaches and ransomware attacks. Unauthorized access can lead to compromised supplier data, while ransomware can halt operations.</a:t>
            </a:r>
          </a:p>
        </p:txBody>
      </p:sp>
      <p:sp>
        <p:nvSpPr>
          <p:cNvPr id="4" name="Slide Number Placeholder 3"/>
          <p:cNvSpPr>
            <a:spLocks noGrp="1"/>
          </p:cNvSpPr>
          <p:nvPr>
            <p:ph type="sldNum" sz="quarter" idx="5"/>
          </p:nvPr>
        </p:nvSpPr>
        <p:spPr/>
        <p:txBody>
          <a:bodyPr/>
          <a:lstStyle/>
          <a:p>
            <a:fld id="{0842455A-0D23-4EAB-9AF9-2CC2B3066B0A}" type="slidenum">
              <a:rPr lang="en-US" smtClean="0"/>
              <a:t>3</a:t>
            </a:fld>
            <a:endParaRPr lang="en-US" dirty="0"/>
          </a:p>
        </p:txBody>
      </p:sp>
    </p:spTree>
    <p:extLst>
      <p:ext uri="{BB962C8B-B14F-4D97-AF65-F5344CB8AC3E}">
        <p14:creationId xmlns:p14="http://schemas.microsoft.com/office/powerpoint/2010/main" val="30755333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CRM systems face threats like phishing attacks, which can lead to loss of customer data, and insider threats, where employees misuse their access to sensitive information.</a:t>
            </a:r>
          </a:p>
        </p:txBody>
      </p:sp>
      <p:sp>
        <p:nvSpPr>
          <p:cNvPr id="4" name="Slide Number Placeholder 3"/>
          <p:cNvSpPr>
            <a:spLocks noGrp="1"/>
          </p:cNvSpPr>
          <p:nvPr>
            <p:ph type="sldNum" sz="quarter" idx="5"/>
          </p:nvPr>
        </p:nvSpPr>
        <p:spPr/>
        <p:txBody>
          <a:bodyPr/>
          <a:lstStyle/>
          <a:p>
            <a:fld id="{0842455A-0D23-4EAB-9AF9-2CC2B3066B0A}" type="slidenum">
              <a:rPr lang="en-US" smtClean="0"/>
              <a:t>4</a:t>
            </a:fld>
            <a:endParaRPr lang="en-US" dirty="0"/>
          </a:p>
        </p:txBody>
      </p:sp>
    </p:spTree>
    <p:extLst>
      <p:ext uri="{BB962C8B-B14F-4D97-AF65-F5344CB8AC3E}">
        <p14:creationId xmlns:p14="http://schemas.microsoft.com/office/powerpoint/2010/main" val="39792949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ERP systems are often targeted by SQL injection attacks and malware infections. These threats can lead to data theft and system downtimes</a:t>
            </a:r>
          </a:p>
        </p:txBody>
      </p:sp>
      <p:sp>
        <p:nvSpPr>
          <p:cNvPr id="4" name="Slide Number Placeholder 3"/>
          <p:cNvSpPr>
            <a:spLocks noGrp="1"/>
          </p:cNvSpPr>
          <p:nvPr>
            <p:ph type="sldNum" sz="quarter" idx="5"/>
          </p:nvPr>
        </p:nvSpPr>
        <p:spPr/>
        <p:txBody>
          <a:bodyPr/>
          <a:lstStyle/>
          <a:p>
            <a:fld id="{0842455A-0D23-4EAB-9AF9-2CC2B3066B0A}" type="slidenum">
              <a:rPr lang="en-US" smtClean="0"/>
              <a:t>5</a:t>
            </a:fld>
            <a:endParaRPr lang="en-US" dirty="0"/>
          </a:p>
        </p:txBody>
      </p:sp>
    </p:spTree>
    <p:extLst>
      <p:ext uri="{BB962C8B-B14F-4D97-AF65-F5344CB8AC3E}">
        <p14:creationId xmlns:p14="http://schemas.microsoft.com/office/powerpoint/2010/main" val="9540920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security breach can have severe consequences for ABC Company, including loss of customer trust, financial penalties from regulatory bodies, reputational damage, and potential legal repercussions."</a:t>
            </a:r>
          </a:p>
        </p:txBody>
      </p:sp>
      <p:sp>
        <p:nvSpPr>
          <p:cNvPr id="4" name="Slide Number Placeholder 3"/>
          <p:cNvSpPr>
            <a:spLocks noGrp="1"/>
          </p:cNvSpPr>
          <p:nvPr>
            <p:ph type="sldNum" sz="quarter" idx="5"/>
          </p:nvPr>
        </p:nvSpPr>
        <p:spPr/>
        <p:txBody>
          <a:bodyPr/>
          <a:lstStyle/>
          <a:p>
            <a:fld id="{0842455A-0D23-4EAB-9AF9-2CC2B3066B0A}" type="slidenum">
              <a:rPr lang="en-US" smtClean="0"/>
              <a:t>6</a:t>
            </a:fld>
            <a:endParaRPr lang="en-US" dirty="0"/>
          </a:p>
        </p:txBody>
      </p:sp>
    </p:spTree>
    <p:extLst>
      <p:ext uri="{BB962C8B-B14F-4D97-AF65-F5344CB8AC3E}">
        <p14:creationId xmlns:p14="http://schemas.microsoft.com/office/powerpoint/2010/main" val="12765271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Implementing data encryption and strict access controls can significantly mitigate risks associated with SCM systems.</a:t>
            </a:r>
          </a:p>
        </p:txBody>
      </p:sp>
      <p:sp>
        <p:nvSpPr>
          <p:cNvPr id="4" name="Slide Number Placeholder 3"/>
          <p:cNvSpPr>
            <a:spLocks noGrp="1"/>
          </p:cNvSpPr>
          <p:nvPr>
            <p:ph type="sldNum" sz="quarter" idx="5"/>
          </p:nvPr>
        </p:nvSpPr>
        <p:spPr/>
        <p:txBody>
          <a:bodyPr/>
          <a:lstStyle/>
          <a:p>
            <a:fld id="{0842455A-0D23-4EAB-9AF9-2CC2B3066B0A}" type="slidenum">
              <a:rPr lang="en-US" smtClean="0"/>
              <a:t>7</a:t>
            </a:fld>
            <a:endParaRPr lang="en-US" dirty="0"/>
          </a:p>
        </p:txBody>
      </p:sp>
    </p:spTree>
    <p:extLst>
      <p:ext uri="{BB962C8B-B14F-4D97-AF65-F5344CB8AC3E}">
        <p14:creationId xmlns:p14="http://schemas.microsoft.com/office/powerpoint/2010/main" val="13944911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multi-factor authentication and providing comprehensive employee training can reduce the likelihood of unauthorized access and insider threats.</a:t>
            </a:r>
          </a:p>
        </p:txBody>
      </p:sp>
      <p:sp>
        <p:nvSpPr>
          <p:cNvPr id="4" name="Slide Number Placeholder 3"/>
          <p:cNvSpPr>
            <a:spLocks noGrp="1"/>
          </p:cNvSpPr>
          <p:nvPr>
            <p:ph type="sldNum" sz="quarter" idx="5"/>
          </p:nvPr>
        </p:nvSpPr>
        <p:spPr/>
        <p:txBody>
          <a:bodyPr/>
          <a:lstStyle/>
          <a:p>
            <a:fld id="{0842455A-0D23-4EAB-9AF9-2CC2B3066B0A}" type="slidenum">
              <a:rPr lang="en-US" smtClean="0"/>
              <a:t>8</a:t>
            </a:fld>
            <a:endParaRPr lang="en-US" dirty="0"/>
          </a:p>
        </p:txBody>
      </p:sp>
    </p:spTree>
    <p:extLst>
      <p:ext uri="{BB962C8B-B14F-4D97-AF65-F5344CB8AC3E}">
        <p14:creationId xmlns:p14="http://schemas.microsoft.com/office/powerpoint/2010/main" val="37443966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Conducting regular security audits and implementing robust patch management practices are essential for protecting ERP systems from vulnerabilities.</a:t>
            </a:r>
          </a:p>
        </p:txBody>
      </p:sp>
      <p:sp>
        <p:nvSpPr>
          <p:cNvPr id="4" name="Slide Number Placeholder 3"/>
          <p:cNvSpPr>
            <a:spLocks noGrp="1"/>
          </p:cNvSpPr>
          <p:nvPr>
            <p:ph type="sldNum" sz="quarter" idx="5"/>
          </p:nvPr>
        </p:nvSpPr>
        <p:spPr/>
        <p:txBody>
          <a:bodyPr/>
          <a:lstStyle/>
          <a:p>
            <a:fld id="{0842455A-0D23-4EAB-9AF9-2CC2B3066B0A}" type="slidenum">
              <a:rPr lang="en-US" smtClean="0"/>
              <a:t>9</a:t>
            </a:fld>
            <a:endParaRPr lang="en-US" dirty="0"/>
          </a:p>
        </p:txBody>
      </p:sp>
    </p:spTree>
    <p:extLst>
      <p:ext uri="{BB962C8B-B14F-4D97-AF65-F5344CB8AC3E}">
        <p14:creationId xmlns:p14="http://schemas.microsoft.com/office/powerpoint/2010/main" val="25323966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effectively secure these systems, ABC Company must resolve dependencies such as ensuring adequate staff training, budget allocation for security measures, executive support, customer awareness programs, and a robust communication strategy</a:t>
            </a:r>
          </a:p>
        </p:txBody>
      </p:sp>
      <p:sp>
        <p:nvSpPr>
          <p:cNvPr id="4" name="Slide Number Placeholder 3"/>
          <p:cNvSpPr>
            <a:spLocks noGrp="1"/>
          </p:cNvSpPr>
          <p:nvPr>
            <p:ph type="sldNum" sz="quarter" idx="5"/>
          </p:nvPr>
        </p:nvSpPr>
        <p:spPr/>
        <p:txBody>
          <a:bodyPr/>
          <a:lstStyle/>
          <a:p>
            <a:fld id="{0842455A-0D23-4EAB-9AF9-2CC2B3066B0A}" type="slidenum">
              <a:rPr lang="en-US" smtClean="0"/>
              <a:t>10</a:t>
            </a:fld>
            <a:endParaRPr lang="en-US" dirty="0"/>
          </a:p>
        </p:txBody>
      </p:sp>
    </p:spTree>
    <p:extLst>
      <p:ext uri="{BB962C8B-B14F-4D97-AF65-F5344CB8AC3E}">
        <p14:creationId xmlns:p14="http://schemas.microsoft.com/office/powerpoint/2010/main" val="7441164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Major vendors have implemented various security measures in their offerings, such as advanced encryption, comprehensive monitoring tools, and incident response capabilities to protect against emerging threats</a:t>
            </a:r>
          </a:p>
        </p:txBody>
      </p:sp>
      <p:sp>
        <p:nvSpPr>
          <p:cNvPr id="4" name="Slide Number Placeholder 3"/>
          <p:cNvSpPr>
            <a:spLocks noGrp="1"/>
          </p:cNvSpPr>
          <p:nvPr>
            <p:ph type="sldNum" sz="quarter" idx="5"/>
          </p:nvPr>
        </p:nvSpPr>
        <p:spPr/>
        <p:txBody>
          <a:bodyPr/>
          <a:lstStyle/>
          <a:p>
            <a:fld id="{0842455A-0D23-4EAB-9AF9-2CC2B3066B0A}" type="slidenum">
              <a:rPr lang="en-US" smtClean="0"/>
              <a:t>11</a:t>
            </a:fld>
            <a:endParaRPr lang="en-US" dirty="0"/>
          </a:p>
        </p:txBody>
      </p:sp>
    </p:spTree>
    <p:extLst>
      <p:ext uri="{BB962C8B-B14F-4D97-AF65-F5344CB8AC3E}">
        <p14:creationId xmlns:p14="http://schemas.microsoft.com/office/powerpoint/2010/main" val="28374818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securing SCM, CRM, and ERP systems is critical for the success and reputation of ABC Company. By understanding the threats and implementing robust security measures, we can protect our data and maintain stakeholder trust."</a:t>
            </a:r>
          </a:p>
        </p:txBody>
      </p:sp>
      <p:sp>
        <p:nvSpPr>
          <p:cNvPr id="4" name="Slide Number Placeholder 3"/>
          <p:cNvSpPr>
            <a:spLocks noGrp="1"/>
          </p:cNvSpPr>
          <p:nvPr>
            <p:ph type="sldNum" sz="quarter" idx="5"/>
          </p:nvPr>
        </p:nvSpPr>
        <p:spPr/>
        <p:txBody>
          <a:bodyPr/>
          <a:lstStyle/>
          <a:p>
            <a:fld id="{0842455A-0D23-4EAB-9AF9-2CC2B3066B0A}" type="slidenum">
              <a:rPr lang="en-US" smtClean="0"/>
              <a:t>12</a:t>
            </a:fld>
            <a:endParaRPr lang="en-US" dirty="0"/>
          </a:p>
        </p:txBody>
      </p:sp>
    </p:spTree>
    <p:extLst>
      <p:ext uri="{BB962C8B-B14F-4D97-AF65-F5344CB8AC3E}">
        <p14:creationId xmlns:p14="http://schemas.microsoft.com/office/powerpoint/2010/main" val="12026686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42455A-0D23-4EAB-9AF9-2CC2B3066B0A}" type="slidenum">
              <a:rPr lang="en-US" smtClean="0"/>
              <a:t>13</a:t>
            </a:fld>
            <a:endParaRPr lang="en-US" dirty="0"/>
          </a:p>
        </p:txBody>
      </p:sp>
    </p:spTree>
    <p:extLst>
      <p:ext uri="{BB962C8B-B14F-4D97-AF65-F5344CB8AC3E}">
        <p14:creationId xmlns:p14="http://schemas.microsoft.com/office/powerpoint/2010/main" val="36175356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4263674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r>
              <a:rPr lang="en-US"/>
              <a:t>Presentation Title</a:t>
            </a:r>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0918782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r>
              <a:rPr lang="en-US"/>
              <a:t>Presentation Title</a:t>
            </a:r>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2332361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r>
              <a:rPr lang="en-US"/>
              <a:t>Presentation Title</a:t>
            </a:r>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2708489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r>
              <a:rPr lang="en-US"/>
              <a:t>20XX</a:t>
            </a:r>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r>
              <a:rPr lang="en-US"/>
              <a:t>Presentation Title</a:t>
            </a:r>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6765163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r>
              <a:rPr lang="en-US"/>
              <a:t>20XX</a:t>
            </a:r>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r>
              <a:rPr lang="en-US"/>
              <a:t>Presentation Title</a:t>
            </a:r>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9718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
        <p:nvSpPr>
          <p:cNvPr id="5" name="Rectangle 4">
            <a:extLst>
              <a:ext uri="{FF2B5EF4-FFF2-40B4-BE49-F238E27FC236}">
                <a16:creationId xmlns:a16="http://schemas.microsoft.com/office/drawing/2014/main" id="{A8464DCA-A9BF-A892-3059-84E13570D01E}"/>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0702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r>
              <a:rPr lang="en-US"/>
              <a:t>20XX</a:t>
            </a:r>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r>
              <a:rPr lang="en-US"/>
              <a:t>Presentation Title</a:t>
            </a:r>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52646308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r>
              <a:rPr lang="en-US"/>
              <a:t>20XX</a:t>
            </a:r>
            <a:endParaRPr lang="en-US" dirty="0"/>
          </a:p>
        </p:txBody>
      </p:sp>
      <p:sp>
        <p:nvSpPr>
          <p:cNvPr id="6" name="Footer Placeholder 5"/>
          <p:cNvSpPr>
            <a:spLocks noGrp="1"/>
          </p:cNvSpPr>
          <p:nvPr>
            <p:ph type="ftr" sz="quarter" idx="11"/>
          </p:nvPr>
        </p:nvSpPr>
        <p:spPr>
          <a:xfrm>
            <a:off x="1097279" y="6446838"/>
            <a:ext cx="6818262" cy="365125"/>
          </a:xfrm>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0067757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r>
              <a:rPr lang="en-US"/>
              <a:t>Presentation Title</a:t>
            </a:r>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519895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r>
              <a:rPr lang="en-US"/>
              <a:t>Presentation Title</a:t>
            </a:r>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2545913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2">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8CE0AB24-7427-4E0C-9E7C-B642B3170AF1}"/>
              </a:ext>
            </a:extLst>
          </p:cNvPr>
          <p:cNvSpPr>
            <a:spLocks noGrp="1"/>
          </p:cNvSpPr>
          <p:nvPr>
            <p:ph type="pic" sz="quarter" idx="13"/>
          </p:nvPr>
        </p:nvSpPr>
        <p:spPr>
          <a:xfrm>
            <a:off x="1524" y="0"/>
            <a:ext cx="12188952" cy="6858000"/>
          </a:xfrm>
          <a:solidFill>
            <a:schemeClr val="accent6"/>
          </a:solidFill>
        </p:spPr>
        <p:txBody>
          <a:bodyPr/>
          <a:lstStyle>
            <a:lvl1pPr algn="ctr">
              <a:defRPr/>
            </a:lvl1pPr>
          </a:lstStyle>
          <a:p>
            <a:r>
              <a:rPr lang="en-US"/>
              <a:t>Click icon to add picture</a:t>
            </a:r>
            <a:endParaRPr lang="en-US" dirty="0"/>
          </a:p>
        </p:txBody>
      </p:sp>
      <p:sp>
        <p:nvSpPr>
          <p:cNvPr id="8" name="Title 1">
            <a:extLst>
              <a:ext uri="{FF2B5EF4-FFF2-40B4-BE49-F238E27FC236}">
                <a16:creationId xmlns:a16="http://schemas.microsoft.com/office/drawing/2014/main" id="{CE30A2A8-DADD-44CC-B8A3-9BFFD5E76B66}"/>
              </a:ext>
            </a:extLst>
          </p:cNvPr>
          <p:cNvSpPr>
            <a:spLocks noGrp="1"/>
          </p:cNvSpPr>
          <p:nvPr>
            <p:ph type="ctrTitle" hasCustomPrompt="1"/>
          </p:nvPr>
        </p:nvSpPr>
        <p:spPr>
          <a:xfrm>
            <a:off x="0" y="2705101"/>
            <a:ext cx="7537703" cy="2926080"/>
          </a:xfrm>
          <a:solidFill>
            <a:schemeClr val="bg1">
              <a:alpha val="93000"/>
            </a:schemeClr>
          </a:solidFill>
        </p:spPr>
        <p:txBody>
          <a:bodyPr lIns="822960" tIns="91440" bIns="548640" anchor="b" anchorCtr="0">
            <a:noAutofit/>
          </a:bodyPr>
          <a:lstStyle>
            <a:lvl1pPr>
              <a:defRPr/>
            </a:lvl1pPr>
          </a:lstStyle>
          <a:p>
            <a:r>
              <a:rPr lang="en-US" sz="5400" dirty="0">
                <a:solidFill>
                  <a:schemeClr val="tx1"/>
                </a:solidFill>
              </a:rPr>
              <a:t>Click to add title</a:t>
            </a:r>
          </a:p>
        </p:txBody>
      </p:sp>
    </p:spTree>
    <p:extLst>
      <p:ext uri="{BB962C8B-B14F-4D97-AF65-F5344CB8AC3E}">
        <p14:creationId xmlns:p14="http://schemas.microsoft.com/office/powerpoint/2010/main" val="678344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2">
    <p:spTree>
      <p:nvGrpSpPr>
        <p:cNvPr id="1" name=""/>
        <p:cNvGrpSpPr/>
        <p:nvPr/>
      </p:nvGrpSpPr>
      <p:grpSpPr>
        <a:xfrm>
          <a:off x="0" y="0"/>
          <a:ext cx="0" cy="0"/>
          <a:chOff x="0" y="0"/>
          <a:chExt cx="0" cy="0"/>
        </a:xfrm>
      </p:grpSpPr>
      <p:sp>
        <p:nvSpPr>
          <p:cNvPr id="6" name="Title 9">
            <a:extLst>
              <a:ext uri="{FF2B5EF4-FFF2-40B4-BE49-F238E27FC236}">
                <a16:creationId xmlns:a16="http://schemas.microsoft.com/office/drawing/2014/main" id="{8832B6D9-0469-48A5-A85E-8C5D8EF86BE3}"/>
              </a:ext>
            </a:extLst>
          </p:cNvPr>
          <p:cNvSpPr>
            <a:spLocks noGrp="1"/>
          </p:cNvSpPr>
          <p:nvPr>
            <p:ph type="title" hasCustomPrompt="1"/>
          </p:nvPr>
        </p:nvSpPr>
        <p:spPr>
          <a:xfrm>
            <a:off x="1097280" y="286603"/>
            <a:ext cx="10058400" cy="1450757"/>
          </a:xfrm>
        </p:spPr>
        <p:txBody>
          <a:bodyPr/>
          <a:lstStyle/>
          <a:p>
            <a:r>
              <a:rPr lang="en-US" sz="4800" dirty="0">
                <a:solidFill>
                  <a:schemeClr val="tx1"/>
                </a:solidFill>
              </a:rPr>
              <a:t>Click to add title</a:t>
            </a:r>
            <a:endParaRPr lang="en-US" dirty="0"/>
          </a:p>
        </p:txBody>
      </p:sp>
      <p:cxnSp>
        <p:nvCxnSpPr>
          <p:cNvPr id="7" name="Straight Connector 6">
            <a:extLst>
              <a:ext uri="{FF2B5EF4-FFF2-40B4-BE49-F238E27FC236}">
                <a16:creationId xmlns:a16="http://schemas.microsoft.com/office/drawing/2014/main" id="{C8A8F00A-3EB2-4D4D-B4A7-990BB91D746D}"/>
              </a:ext>
              <a:ext uri="{C183D7F6-B498-43B3-948B-1728B52AA6E4}">
                <adec:decorative xmlns:adec="http://schemas.microsoft.com/office/drawing/2017/decorative" val="1"/>
              </a:ext>
            </a:extLst>
          </p:cNvPr>
          <p:cNvCxnSpPr/>
          <p:nvPr userDrawn="1"/>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11">
            <a:extLst>
              <a:ext uri="{FF2B5EF4-FFF2-40B4-BE49-F238E27FC236}">
                <a16:creationId xmlns:a16="http://schemas.microsoft.com/office/drawing/2014/main" id="{4142A7E4-A56F-4FC2-A81D-36A83134A219}"/>
              </a:ext>
            </a:extLst>
          </p:cNvPr>
          <p:cNvSpPr>
            <a:spLocks noGrp="1"/>
          </p:cNvSpPr>
          <p:nvPr>
            <p:ph idx="1" hasCustomPrompt="1"/>
          </p:nvPr>
        </p:nvSpPr>
        <p:spPr>
          <a:xfrm>
            <a:off x="1097280" y="2108201"/>
            <a:ext cx="10058399" cy="3760891"/>
          </a:xfrm>
        </p:spPr>
        <p:txBody>
          <a:bodyPr lIns="91440">
            <a:normAutofit/>
          </a:bodyPr>
          <a:lstStyle>
            <a:lvl1pPr marL="347472" indent="-347472">
              <a:spcBef>
                <a:spcPts val="1200"/>
              </a:spcBef>
              <a:spcAft>
                <a:spcPts val="200"/>
              </a:spcAft>
              <a:buFont typeface="Arial" panose="020B0604020202020204" pitchFamily="34" charset="0"/>
              <a:buChar char="•"/>
              <a:defRPr sz="3000"/>
            </a:lvl1pPr>
            <a:lvl2pPr>
              <a:spcBef>
                <a:spcPts val="1200"/>
              </a:spcBef>
              <a:spcAft>
                <a:spcPts val="200"/>
              </a:spcAft>
              <a:defRPr sz="3000"/>
            </a:lvl2pPr>
            <a:lvl3pPr>
              <a:spcBef>
                <a:spcPts val="1200"/>
              </a:spcBef>
              <a:spcAft>
                <a:spcPts val="200"/>
              </a:spcAft>
              <a:defRPr sz="3000"/>
            </a:lvl3pPr>
            <a:lvl4pPr>
              <a:spcBef>
                <a:spcPts val="1200"/>
              </a:spcBef>
              <a:spcAft>
                <a:spcPts val="200"/>
              </a:spcAft>
              <a:defRPr sz="3000"/>
            </a:lvl4pPr>
            <a:lvl5pPr>
              <a:spcBef>
                <a:spcPts val="1200"/>
              </a:spcBef>
              <a:spcAft>
                <a:spcPts val="200"/>
              </a:spcAft>
              <a:defRPr sz="3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r>
              <a:rPr lang="en-US" dirty="0"/>
              <a:t>Presentation Title</a:t>
            </a:r>
          </a:p>
        </p:txBody>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r>
              <a:rPr lang="en-US" dirty="0"/>
              <a:t>20XX</a:t>
            </a:r>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16481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r>
              <a:rPr lang="en-US"/>
              <a:t>20XX</a:t>
            </a:r>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r>
              <a:rPr lang="en-US"/>
              <a:t>Presentation Title</a:t>
            </a:r>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105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7560720"/>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Lst>
  <p:hf sldNum="0" hdr="0" ftr="0" dt="0"/>
  <p:txStyles>
    <p:titleStyle>
      <a:lvl1pPr algn="l" defTabSz="914400" rtl="0" eaLnBrk="1" latinLnBrk="0" hangingPunct="1">
        <a:lnSpc>
          <a:spcPct val="90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7" descr="A group of people sitting at a table">
            <a:extLst>
              <a:ext uri="{FF2B5EF4-FFF2-40B4-BE49-F238E27FC236}">
                <a16:creationId xmlns:a16="http://schemas.microsoft.com/office/drawing/2014/main" id="{6BEAD192-141F-FDDE-021B-8674B81EECDC}"/>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l="13" r="13"/>
          <a:stretch/>
        </p:blipFill>
        <p:spPr/>
      </p:pic>
      <p:sp>
        <p:nvSpPr>
          <p:cNvPr id="2" name="Title 1">
            <a:extLst>
              <a:ext uri="{FF2B5EF4-FFF2-40B4-BE49-F238E27FC236}">
                <a16:creationId xmlns:a16="http://schemas.microsoft.com/office/drawing/2014/main" id="{36E54F7D-82EC-2AE1-2B07-3E5BA1672CB3}"/>
              </a:ext>
            </a:extLst>
          </p:cNvPr>
          <p:cNvSpPr>
            <a:spLocks noGrp="1" noChangeArrowheads="1"/>
          </p:cNvSpPr>
          <p:nvPr>
            <p:ph type="ctrTitle"/>
          </p:nvPr>
        </p:nvSpPr>
        <p:spPr bwMode="auto">
          <a:xfrm>
            <a:off x="150471" y="2303426"/>
            <a:ext cx="7387232"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3600" b="1" i="0" u="none" strike="noStrike" cap="none" normalizeH="0" baseline="0" dirty="0">
                <a:ln>
                  <a:noFill/>
                </a:ln>
                <a:solidFill>
                  <a:schemeClr val="tx1"/>
                </a:solidFill>
                <a:effectLst/>
                <a:latin typeface="Arial" panose="020B0604020202020204" pitchFamily="34" charset="0"/>
              </a:rPr>
              <a:t>Securing Data in SCM, CRM, and ERP Systems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A Strategic Approach for ABC Company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Jamal </a:t>
            </a:r>
            <a:r>
              <a:rPr lang="en-US" altLang="en-US" sz="1800" b="1" dirty="0">
                <a:solidFill>
                  <a:schemeClr val="tx1"/>
                </a:solidFill>
                <a:latin typeface="Arial" panose="020B0604020202020204" pitchFamily="34" charset="0"/>
              </a:rPr>
              <a:t>J</a:t>
            </a:r>
            <a:r>
              <a:rPr kumimoji="0" lang="en-US" altLang="en-US" sz="1800" b="1" i="0" u="none" strike="noStrike" cap="none" normalizeH="0" baseline="0" dirty="0">
                <a:ln>
                  <a:noFill/>
                </a:ln>
                <a:solidFill>
                  <a:schemeClr val="tx1"/>
                </a:solidFill>
                <a:effectLst/>
                <a:latin typeface="Arial" panose="020B0604020202020204" pitchFamily="34" charset="0"/>
              </a:rPr>
              <a:t>ohnson </a:t>
            </a:r>
            <a:br>
              <a:rPr lang="en-US" altLang="en-US" sz="1800" b="1" dirty="0">
                <a:solidFill>
                  <a:schemeClr val="tx1"/>
                </a:solidFill>
                <a:latin typeface="Arial" panose="020B0604020202020204" pitchFamily="34" charset="0"/>
              </a:rPr>
            </a:br>
            <a:r>
              <a:rPr kumimoji="0" lang="en-US" altLang="en-US" sz="1800" b="1" i="0" u="none" strike="noStrike" cap="none" normalizeH="0" baseline="0" dirty="0">
                <a:ln>
                  <a:noFill/>
                </a:ln>
                <a:solidFill>
                  <a:schemeClr val="tx1"/>
                </a:solidFill>
                <a:effectLst/>
                <a:latin typeface="Arial" panose="020B0604020202020204" pitchFamily="34" charset="0"/>
              </a:rPr>
              <a:t>March 17</a:t>
            </a:r>
            <a:r>
              <a:rPr kumimoji="0" lang="en-US" altLang="en-US" sz="1800" b="1" i="0" u="none" strike="noStrike" cap="none" normalizeH="0" baseline="30000" dirty="0">
                <a:ln>
                  <a:noFill/>
                </a:ln>
                <a:solidFill>
                  <a:schemeClr val="tx1"/>
                </a:solidFill>
                <a:effectLst/>
                <a:latin typeface="Arial" panose="020B0604020202020204" pitchFamily="34" charset="0"/>
              </a:rPr>
              <a:t>th</a:t>
            </a:r>
            <a:r>
              <a:rPr lang="en-US" altLang="en-US" sz="1800" b="1" dirty="0">
                <a:solidFill>
                  <a:schemeClr val="tx1"/>
                </a:solidFill>
                <a:latin typeface="Arial" panose="020B0604020202020204" pitchFamily="34" charset="0"/>
              </a:rPr>
              <a:t>, 2025</a:t>
            </a:r>
            <a:endParaRPr kumimoji="0" lang="en-US" altLang="en-US" sz="18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768791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16A0E3C-60E6-4F39-BC55-5F7C224E1F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1" name="Straight Connector 10">
            <a:extLst>
              <a:ext uri="{FF2B5EF4-FFF2-40B4-BE49-F238E27FC236}">
                <a16:creationId xmlns:a16="http://schemas.microsoft.com/office/drawing/2014/main" id="{C5025DAC-8B93-4160-B017-3A274A5828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E844E128-FF69-4E9F-8327-6B504B3C5A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 y="0"/>
            <a:ext cx="12191985"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8EE44E67-57A4-9825-9E94-C2B258A68C9D}"/>
              </a:ext>
            </a:extLst>
          </p:cNvPr>
          <p:cNvSpPr>
            <a:spLocks noGrp="1"/>
          </p:cNvSpPr>
          <p:nvPr>
            <p:ph type="title"/>
          </p:nvPr>
        </p:nvSpPr>
        <p:spPr>
          <a:xfrm>
            <a:off x="643467" y="516835"/>
            <a:ext cx="3448259" cy="1666501"/>
          </a:xfrm>
        </p:spPr>
        <p:txBody>
          <a:bodyPr vert="horz" lIns="91440" tIns="45720" rIns="91440" bIns="45720" rtlCol="0" anchor="b">
            <a:normAutofit/>
          </a:bodyPr>
          <a:lstStyle/>
          <a:p>
            <a:r>
              <a:rPr lang="en-US" sz="4000" dirty="0">
                <a:solidFill>
                  <a:srgbClr val="FFFFFF"/>
                </a:solidFill>
              </a:rPr>
              <a:t>Importance of Data Security</a:t>
            </a:r>
          </a:p>
        </p:txBody>
      </p:sp>
      <p:cxnSp>
        <p:nvCxnSpPr>
          <p:cNvPr id="15" name="Straight Connector 14">
            <a:extLst>
              <a:ext uri="{FF2B5EF4-FFF2-40B4-BE49-F238E27FC236}">
                <a16:creationId xmlns:a16="http://schemas.microsoft.com/office/drawing/2014/main" id="{055CEADF-09EA-423C-8C45-F94AF44D5A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686" y="2353592"/>
            <a:ext cx="329184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21C3D74-CBD0-AEEC-7CF1-ED875B10D2FB}"/>
              </a:ext>
            </a:extLst>
          </p:cNvPr>
          <p:cNvSpPr>
            <a:spLocks noGrp="1"/>
          </p:cNvSpPr>
          <p:nvPr>
            <p:ph idx="1"/>
          </p:nvPr>
        </p:nvSpPr>
        <p:spPr>
          <a:xfrm>
            <a:off x="643467" y="2546224"/>
            <a:ext cx="3448259" cy="3342747"/>
          </a:xfrm>
        </p:spPr>
        <p:txBody>
          <a:bodyPr vert="horz" lIns="0" tIns="45720" rIns="0" bIns="45720" rtlCol="0">
            <a:normAutofit/>
          </a:bodyPr>
          <a:lstStyle/>
          <a:p>
            <a:pPr>
              <a:lnSpc>
                <a:spcPct val="90000"/>
              </a:lnSpc>
              <a:buFont typeface="Calibri" panose="020F0502020204030204" pitchFamily="34" charset="0"/>
              <a:buNone/>
            </a:pPr>
            <a:r>
              <a:rPr lang="en-US" sz="1300" b="1" dirty="0">
                <a:solidFill>
                  <a:srgbClr val="FFFFFF"/>
                </a:solidFill>
              </a:rPr>
              <a:t>Significance of Data Security in SCM, CRM, and ERP Systems</a:t>
            </a:r>
          </a:p>
          <a:p>
            <a:pPr>
              <a:lnSpc>
                <a:spcPct val="90000"/>
              </a:lnSpc>
              <a:buFont typeface="Calibri" panose="020F0502020204030204" pitchFamily="34" charset="0"/>
              <a:buChar char="•"/>
            </a:pPr>
            <a:r>
              <a:rPr lang="en-US" sz="1300" b="1" dirty="0">
                <a:solidFill>
                  <a:srgbClr val="FFFFFF"/>
                </a:solidFill>
              </a:rPr>
              <a:t>Confidentiality</a:t>
            </a:r>
            <a:r>
              <a:rPr lang="en-US" sz="1300" dirty="0">
                <a:solidFill>
                  <a:srgbClr val="FFFFFF"/>
                </a:solidFill>
              </a:rPr>
              <a:t>: Protect sensitive customer and business data from unauthorized access.</a:t>
            </a:r>
          </a:p>
          <a:p>
            <a:pPr>
              <a:lnSpc>
                <a:spcPct val="90000"/>
              </a:lnSpc>
              <a:buFont typeface="Calibri" panose="020F0502020204030204" pitchFamily="34" charset="0"/>
              <a:buChar char="•"/>
            </a:pPr>
            <a:r>
              <a:rPr lang="en-US" sz="1300" b="1" dirty="0">
                <a:solidFill>
                  <a:srgbClr val="FFFFFF"/>
                </a:solidFill>
              </a:rPr>
              <a:t>Integrity</a:t>
            </a:r>
            <a:r>
              <a:rPr lang="en-US" sz="1300" dirty="0">
                <a:solidFill>
                  <a:srgbClr val="FFFFFF"/>
                </a:solidFill>
              </a:rPr>
              <a:t>: Ensure accurate and reliable data for informed decision-making.</a:t>
            </a:r>
          </a:p>
          <a:p>
            <a:pPr>
              <a:lnSpc>
                <a:spcPct val="90000"/>
              </a:lnSpc>
              <a:buFont typeface="Calibri" panose="020F0502020204030204" pitchFamily="34" charset="0"/>
              <a:buChar char="•"/>
            </a:pPr>
            <a:r>
              <a:rPr lang="en-US" sz="1300" b="1" dirty="0">
                <a:solidFill>
                  <a:srgbClr val="FFFFFF"/>
                </a:solidFill>
              </a:rPr>
              <a:t>Compliance</a:t>
            </a:r>
            <a:r>
              <a:rPr lang="en-US" sz="1300" dirty="0">
                <a:solidFill>
                  <a:srgbClr val="FFFFFF"/>
                </a:solidFill>
              </a:rPr>
              <a:t>: Meet regulatory requirements (e.g., GDPR, HIPAA) for data protection.</a:t>
            </a:r>
          </a:p>
          <a:p>
            <a:pPr>
              <a:lnSpc>
                <a:spcPct val="90000"/>
              </a:lnSpc>
              <a:buFont typeface="Calibri" panose="020F0502020204030204" pitchFamily="34" charset="0"/>
              <a:buChar char="•"/>
            </a:pPr>
            <a:r>
              <a:rPr lang="en-US" sz="1300" b="1" dirty="0">
                <a:solidFill>
                  <a:srgbClr val="FFFFFF"/>
                </a:solidFill>
              </a:rPr>
              <a:t>Operational Continuity</a:t>
            </a:r>
            <a:r>
              <a:rPr lang="en-US" sz="1300" dirty="0">
                <a:solidFill>
                  <a:srgbClr val="FFFFFF"/>
                </a:solidFill>
              </a:rPr>
              <a:t>: Prevent disruptions from cyberattacks and maintain business operations.</a:t>
            </a:r>
          </a:p>
          <a:p>
            <a:pPr>
              <a:lnSpc>
                <a:spcPct val="90000"/>
              </a:lnSpc>
              <a:buFont typeface="Calibri" panose="020F0502020204030204" pitchFamily="34" charset="0"/>
              <a:buChar char="•"/>
            </a:pPr>
            <a:r>
              <a:rPr lang="en-US" sz="1300" b="1" dirty="0">
                <a:solidFill>
                  <a:srgbClr val="FFFFFF"/>
                </a:solidFill>
              </a:rPr>
              <a:t>Competitive Advantage</a:t>
            </a:r>
            <a:r>
              <a:rPr lang="en-US" sz="1300" dirty="0">
                <a:solidFill>
                  <a:srgbClr val="FFFFFF"/>
                </a:solidFill>
              </a:rPr>
              <a:t>: Build customer trust and loyalty, enhancing market position.</a:t>
            </a:r>
          </a:p>
          <a:p>
            <a:pPr marL="0" indent="0">
              <a:lnSpc>
                <a:spcPct val="90000"/>
              </a:lnSpc>
              <a:buFont typeface="Calibri" panose="020F0502020204030204" pitchFamily="34" charset="0"/>
              <a:buNone/>
            </a:pPr>
            <a:endParaRPr lang="en-US" sz="1300" dirty="0">
              <a:solidFill>
                <a:srgbClr val="FFFFFF"/>
              </a:solidFill>
            </a:endParaRPr>
          </a:p>
        </p:txBody>
      </p:sp>
      <p:pic>
        <p:nvPicPr>
          <p:cNvPr id="5" name="Picture 4" descr="Digital padlock art">
            <a:extLst>
              <a:ext uri="{FF2B5EF4-FFF2-40B4-BE49-F238E27FC236}">
                <a16:creationId xmlns:a16="http://schemas.microsoft.com/office/drawing/2014/main" id="{6C052B5F-B457-3EBC-DD9A-4A38191B9098}"/>
              </a:ext>
            </a:extLst>
          </p:cNvPr>
          <p:cNvPicPr>
            <a:picLocks noChangeAspect="1"/>
          </p:cNvPicPr>
          <p:nvPr/>
        </p:nvPicPr>
        <p:blipFill>
          <a:blip r:embed="rId3"/>
          <a:srcRect r="19214" b="-2"/>
          <a:stretch/>
        </p:blipFill>
        <p:spPr>
          <a:xfrm>
            <a:off x="4654296" y="10"/>
            <a:ext cx="7537703" cy="6857990"/>
          </a:xfrm>
          <a:prstGeom prst="rect">
            <a:avLst/>
          </a:prstGeom>
        </p:spPr>
      </p:pic>
    </p:spTree>
    <p:extLst>
      <p:ext uri="{BB962C8B-B14F-4D97-AF65-F5344CB8AC3E}">
        <p14:creationId xmlns:p14="http://schemas.microsoft.com/office/powerpoint/2010/main" val="3648163248"/>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844E128-FF69-4E9F-8327-6B504B3C5A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 y="0"/>
            <a:ext cx="12191985"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732BCCE3-5E25-5CF9-CD2D-8F040AEB1F13}"/>
              </a:ext>
            </a:extLst>
          </p:cNvPr>
          <p:cNvSpPr>
            <a:spLocks noGrp="1"/>
          </p:cNvSpPr>
          <p:nvPr>
            <p:ph type="title"/>
          </p:nvPr>
        </p:nvSpPr>
        <p:spPr>
          <a:xfrm>
            <a:off x="643467" y="516835"/>
            <a:ext cx="3448259" cy="1666501"/>
          </a:xfrm>
        </p:spPr>
        <p:txBody>
          <a:bodyPr>
            <a:normAutofit/>
          </a:bodyPr>
          <a:lstStyle/>
          <a:p>
            <a:r>
              <a:rPr lang="en-US" sz="4000">
                <a:solidFill>
                  <a:srgbClr val="FFFFFF"/>
                </a:solidFill>
              </a:rPr>
              <a:t>Security Threats in SCM Systems</a:t>
            </a:r>
          </a:p>
        </p:txBody>
      </p:sp>
      <p:cxnSp>
        <p:nvCxnSpPr>
          <p:cNvPr id="13" name="Straight Connector 12">
            <a:extLst>
              <a:ext uri="{FF2B5EF4-FFF2-40B4-BE49-F238E27FC236}">
                <a16:creationId xmlns:a16="http://schemas.microsoft.com/office/drawing/2014/main" id="{055CEADF-09EA-423C-8C45-F94AF44D5A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686" y="2353592"/>
            <a:ext cx="329184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F2E56565-E60C-01DA-FC94-01011A85A39E}"/>
              </a:ext>
            </a:extLst>
          </p:cNvPr>
          <p:cNvSpPr>
            <a:spLocks noGrp="1" noChangeArrowheads="1"/>
          </p:cNvSpPr>
          <p:nvPr>
            <p:ph idx="1"/>
          </p:nvPr>
        </p:nvSpPr>
        <p:spPr bwMode="auto">
          <a:xfrm>
            <a:off x="643467" y="2546224"/>
            <a:ext cx="3448259" cy="334274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endParaRPr kumimoji="0" lang="en-US" altLang="en-US" sz="1800" b="0" i="0" u="none" strike="noStrike" cap="none" normalizeH="0" baseline="0">
              <a:ln>
                <a:noFill/>
              </a:ln>
              <a:solidFill>
                <a:srgbClr val="FFFFFF"/>
              </a:solidFill>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a:ln>
                  <a:noFill/>
                </a:ln>
                <a:solidFill>
                  <a:srgbClr val="FFFFFF"/>
                </a:solidFill>
                <a:effectLst/>
                <a:latin typeface="Arial" panose="020B0604020202020204" pitchFamily="34" charset="0"/>
              </a:rPr>
              <a:t>Example 1: Data Breach (unauthorized access to sensitive supply chain data) </a:t>
            </a:r>
          </a:p>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a:ln>
                  <a:noFill/>
                </a:ln>
                <a:solidFill>
                  <a:srgbClr val="FFFFFF"/>
                </a:solidFill>
                <a:effectLst/>
                <a:latin typeface="Arial" panose="020B0604020202020204" pitchFamily="34" charset="0"/>
              </a:rPr>
              <a:t>Example 2: Ransomware (holding data hostage) </a:t>
            </a:r>
          </a:p>
        </p:txBody>
      </p:sp>
      <p:pic>
        <p:nvPicPr>
          <p:cNvPr id="6" name="Picture 5">
            <a:extLst>
              <a:ext uri="{FF2B5EF4-FFF2-40B4-BE49-F238E27FC236}">
                <a16:creationId xmlns:a16="http://schemas.microsoft.com/office/drawing/2014/main" id="{8987D384-9C75-5008-79F0-26F4046DA465}"/>
              </a:ext>
            </a:extLst>
          </p:cNvPr>
          <p:cNvPicPr>
            <a:picLocks noChangeAspect="1"/>
          </p:cNvPicPr>
          <p:nvPr/>
        </p:nvPicPr>
        <p:blipFill>
          <a:blip r:embed="rId3"/>
          <a:srcRect t="9018" r="-1" b="-1"/>
          <a:stretch/>
        </p:blipFill>
        <p:spPr>
          <a:xfrm>
            <a:off x="4654296" y="10"/>
            <a:ext cx="7537703" cy="6857990"/>
          </a:xfrm>
          <a:prstGeom prst="rect">
            <a:avLst/>
          </a:prstGeom>
        </p:spPr>
      </p:pic>
    </p:spTree>
    <p:extLst>
      <p:ext uri="{BB962C8B-B14F-4D97-AF65-F5344CB8AC3E}">
        <p14:creationId xmlns:p14="http://schemas.microsoft.com/office/powerpoint/2010/main" val="3368711254"/>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44E128-FF69-4E9F-8327-6B504B3C5A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 y="0"/>
            <a:ext cx="12191985"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F1B1B82-9B04-53CC-EDA5-44B17178B501}"/>
              </a:ext>
            </a:extLst>
          </p:cNvPr>
          <p:cNvSpPr>
            <a:spLocks noGrp="1"/>
          </p:cNvSpPr>
          <p:nvPr>
            <p:ph type="title"/>
          </p:nvPr>
        </p:nvSpPr>
        <p:spPr>
          <a:xfrm>
            <a:off x="643467" y="516835"/>
            <a:ext cx="3448259" cy="1666501"/>
          </a:xfrm>
        </p:spPr>
        <p:txBody>
          <a:bodyPr>
            <a:normAutofit/>
          </a:bodyPr>
          <a:lstStyle/>
          <a:p>
            <a:r>
              <a:rPr lang="en-US" sz="4000">
                <a:solidFill>
                  <a:srgbClr val="FFFFFF"/>
                </a:solidFill>
              </a:rPr>
              <a:t>Security Threats in CRM Systems</a:t>
            </a:r>
          </a:p>
        </p:txBody>
      </p:sp>
      <p:cxnSp>
        <p:nvCxnSpPr>
          <p:cNvPr id="11" name="Straight Connector 10">
            <a:extLst>
              <a:ext uri="{FF2B5EF4-FFF2-40B4-BE49-F238E27FC236}">
                <a16:creationId xmlns:a16="http://schemas.microsoft.com/office/drawing/2014/main" id="{055CEADF-09EA-423C-8C45-F94AF44D5A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686" y="2353592"/>
            <a:ext cx="329184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A456AF3-F5B0-FDFF-737D-F2649113C499}"/>
              </a:ext>
            </a:extLst>
          </p:cNvPr>
          <p:cNvSpPr>
            <a:spLocks noGrp="1"/>
          </p:cNvSpPr>
          <p:nvPr>
            <p:ph idx="1"/>
          </p:nvPr>
        </p:nvSpPr>
        <p:spPr>
          <a:xfrm>
            <a:off x="643467" y="2546224"/>
            <a:ext cx="3448259" cy="3342747"/>
          </a:xfrm>
        </p:spPr>
        <p:txBody>
          <a:bodyPr>
            <a:normAutofit/>
          </a:bodyPr>
          <a:lstStyle/>
          <a:p>
            <a:pPr>
              <a:buFont typeface="Arial" panose="020B0604020202020204" pitchFamily="34" charset="0"/>
              <a:buChar char="•"/>
            </a:pPr>
            <a:r>
              <a:rPr lang="en-US" sz="1800" dirty="0">
                <a:solidFill>
                  <a:srgbClr val="FFFFFF"/>
                </a:solidFill>
              </a:rPr>
              <a:t>Example 1: Phishing Attacks (targeting customer data)</a:t>
            </a:r>
          </a:p>
          <a:p>
            <a:pPr>
              <a:buFont typeface="Arial" panose="020B0604020202020204" pitchFamily="34" charset="0"/>
              <a:buChar char="•"/>
            </a:pPr>
            <a:r>
              <a:rPr lang="en-US" sz="1800" dirty="0">
                <a:solidFill>
                  <a:srgbClr val="FFFFFF"/>
                </a:solidFill>
              </a:rPr>
              <a:t>Example 2: Insider Threats (employees misusing access)</a:t>
            </a:r>
          </a:p>
          <a:p>
            <a:endParaRPr lang="en-US" sz="1800" dirty="0">
              <a:solidFill>
                <a:srgbClr val="FFFFFF"/>
              </a:solidFill>
            </a:endParaRPr>
          </a:p>
        </p:txBody>
      </p:sp>
      <p:pic>
        <p:nvPicPr>
          <p:cNvPr id="4" name="Picture 3">
            <a:extLst>
              <a:ext uri="{FF2B5EF4-FFF2-40B4-BE49-F238E27FC236}">
                <a16:creationId xmlns:a16="http://schemas.microsoft.com/office/drawing/2014/main" id="{2F7009A9-B973-F17D-3F67-7EF890B26789}"/>
              </a:ext>
            </a:extLst>
          </p:cNvPr>
          <p:cNvPicPr>
            <a:picLocks noChangeAspect="1"/>
          </p:cNvPicPr>
          <p:nvPr/>
        </p:nvPicPr>
        <p:blipFill>
          <a:blip r:embed="rId3"/>
          <a:srcRect r="-1" b="9016"/>
          <a:stretch/>
        </p:blipFill>
        <p:spPr>
          <a:xfrm>
            <a:off x="4654296" y="10"/>
            <a:ext cx="7537703" cy="6857990"/>
          </a:xfrm>
          <a:prstGeom prst="rect">
            <a:avLst/>
          </a:prstGeom>
        </p:spPr>
      </p:pic>
    </p:spTree>
    <p:extLst>
      <p:ext uri="{BB962C8B-B14F-4D97-AF65-F5344CB8AC3E}">
        <p14:creationId xmlns:p14="http://schemas.microsoft.com/office/powerpoint/2010/main" val="1393914517"/>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844E128-FF69-4E9F-8327-6B504B3C5A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 y="0"/>
            <a:ext cx="12191985"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37A7CB7B-6309-10BE-040D-3850F6F573FC}"/>
              </a:ext>
            </a:extLst>
          </p:cNvPr>
          <p:cNvSpPr>
            <a:spLocks noGrp="1"/>
          </p:cNvSpPr>
          <p:nvPr>
            <p:ph type="title"/>
          </p:nvPr>
        </p:nvSpPr>
        <p:spPr>
          <a:xfrm>
            <a:off x="643467" y="516835"/>
            <a:ext cx="3448259" cy="1666501"/>
          </a:xfrm>
        </p:spPr>
        <p:txBody>
          <a:bodyPr>
            <a:normAutofit/>
          </a:bodyPr>
          <a:lstStyle/>
          <a:p>
            <a:r>
              <a:rPr lang="en-US" sz="4000">
                <a:solidFill>
                  <a:srgbClr val="FFFFFF"/>
                </a:solidFill>
              </a:rPr>
              <a:t>Security Threats in ERP Systems</a:t>
            </a:r>
          </a:p>
        </p:txBody>
      </p:sp>
      <p:cxnSp>
        <p:nvCxnSpPr>
          <p:cNvPr id="12" name="Straight Connector 11">
            <a:extLst>
              <a:ext uri="{FF2B5EF4-FFF2-40B4-BE49-F238E27FC236}">
                <a16:creationId xmlns:a16="http://schemas.microsoft.com/office/drawing/2014/main" id="{055CEADF-09EA-423C-8C45-F94AF44D5A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686" y="2353592"/>
            <a:ext cx="329184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47F8DDAC-BFD2-AB38-8575-1B0B0ACE1777}"/>
              </a:ext>
            </a:extLst>
          </p:cNvPr>
          <p:cNvSpPr>
            <a:spLocks noGrp="1" noChangeArrowheads="1"/>
          </p:cNvSpPr>
          <p:nvPr>
            <p:ph idx="1"/>
          </p:nvPr>
        </p:nvSpPr>
        <p:spPr bwMode="auto">
          <a:xfrm>
            <a:off x="643467" y="2546224"/>
            <a:ext cx="3448259" cy="334274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None/>
              <a:tabLst/>
            </a:pPr>
            <a:endParaRPr kumimoji="0" lang="en-US" altLang="en-US" sz="1800" b="0" i="0" u="none" strike="noStrike" cap="none" normalizeH="0" baseline="0" dirty="0">
              <a:ln>
                <a:noFill/>
              </a:ln>
              <a:solidFill>
                <a:srgbClr val="FFFFFF"/>
              </a:solidFill>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dirty="0">
                <a:ln>
                  <a:noFill/>
                </a:ln>
                <a:solidFill>
                  <a:srgbClr val="FFFFFF"/>
                </a:solidFill>
                <a:effectLst/>
                <a:latin typeface="Arial" panose="020B0604020202020204" pitchFamily="34" charset="0"/>
              </a:rPr>
              <a:t>Example 1: SQL Injection (exploiting vulnerabilities in databases) </a:t>
            </a:r>
          </a:p>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dirty="0">
                <a:ln>
                  <a:noFill/>
                </a:ln>
                <a:solidFill>
                  <a:srgbClr val="FFFFFF"/>
                </a:solidFill>
                <a:effectLst/>
                <a:latin typeface="Arial" panose="020B0604020202020204" pitchFamily="34" charset="0"/>
              </a:rPr>
              <a:t>Example 2: Malware (infecting system to steal data) </a:t>
            </a:r>
          </a:p>
          <a:p>
            <a:pPr marL="0" marR="0" lvl="0" indent="0" defTabSz="914400" rtl="0" eaLnBrk="0" fontAlgn="base" latinLnBrk="0" hangingPunct="0">
              <a:spcBef>
                <a:spcPct val="0"/>
              </a:spcBef>
              <a:spcAft>
                <a:spcPts val="600"/>
              </a:spcAft>
              <a:buClrTx/>
              <a:buSzTx/>
              <a:buFontTx/>
              <a:buNone/>
              <a:tabLst/>
            </a:pPr>
            <a:endParaRPr kumimoji="0" lang="en-US" altLang="en-US" sz="1800" b="0" i="0" u="none" strike="noStrike" cap="none" normalizeH="0" baseline="0" dirty="0">
              <a:ln>
                <a:noFill/>
              </a:ln>
              <a:solidFill>
                <a:srgbClr val="FFFFFF"/>
              </a:solidFill>
              <a:effectLst/>
              <a:latin typeface="Arial" panose="020B0604020202020204" pitchFamily="34" charset="0"/>
            </a:endParaRPr>
          </a:p>
        </p:txBody>
      </p:sp>
      <p:pic>
        <p:nvPicPr>
          <p:cNvPr id="5" name="Picture 4">
            <a:extLst>
              <a:ext uri="{FF2B5EF4-FFF2-40B4-BE49-F238E27FC236}">
                <a16:creationId xmlns:a16="http://schemas.microsoft.com/office/drawing/2014/main" id="{DFEFFEFD-0A12-17D3-E174-60F4E246185B}"/>
              </a:ext>
            </a:extLst>
          </p:cNvPr>
          <p:cNvPicPr>
            <a:picLocks noChangeAspect="1"/>
          </p:cNvPicPr>
          <p:nvPr/>
        </p:nvPicPr>
        <p:blipFill>
          <a:blip r:embed="rId3"/>
          <a:srcRect t="9018" r="-1" b="-1"/>
          <a:stretch/>
        </p:blipFill>
        <p:spPr>
          <a:xfrm>
            <a:off x="4654296" y="10"/>
            <a:ext cx="7537703" cy="6857990"/>
          </a:xfrm>
          <a:prstGeom prst="rect">
            <a:avLst/>
          </a:prstGeom>
        </p:spPr>
      </p:pic>
    </p:spTree>
    <p:extLst>
      <p:ext uri="{BB962C8B-B14F-4D97-AF65-F5344CB8AC3E}">
        <p14:creationId xmlns:p14="http://schemas.microsoft.com/office/powerpoint/2010/main" val="3751870959"/>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844E128-FF69-4E9F-8327-6B504B3C5A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 y="0"/>
            <a:ext cx="12191985"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210A63E-645F-94D1-843A-69D52814C145}"/>
              </a:ext>
            </a:extLst>
          </p:cNvPr>
          <p:cNvSpPr>
            <a:spLocks noGrp="1"/>
          </p:cNvSpPr>
          <p:nvPr>
            <p:ph type="title"/>
          </p:nvPr>
        </p:nvSpPr>
        <p:spPr>
          <a:xfrm>
            <a:off x="643467" y="516835"/>
            <a:ext cx="3448259" cy="1666501"/>
          </a:xfrm>
        </p:spPr>
        <p:txBody>
          <a:bodyPr>
            <a:normAutofit/>
          </a:bodyPr>
          <a:lstStyle/>
          <a:p>
            <a:r>
              <a:rPr lang="en-US" sz="3700" b="1">
                <a:solidFill>
                  <a:srgbClr val="FFFFFF"/>
                </a:solidFill>
              </a:rPr>
              <a:t>Consequences of Security Breaches</a:t>
            </a:r>
            <a:br>
              <a:rPr lang="en-US" sz="3700" b="1">
                <a:solidFill>
                  <a:srgbClr val="FFFFFF"/>
                </a:solidFill>
              </a:rPr>
            </a:br>
            <a:endParaRPr lang="en-US" sz="3700">
              <a:solidFill>
                <a:srgbClr val="FFFFFF"/>
              </a:solidFill>
            </a:endParaRPr>
          </a:p>
        </p:txBody>
      </p:sp>
      <p:cxnSp>
        <p:nvCxnSpPr>
          <p:cNvPr id="13" name="Straight Connector 12">
            <a:extLst>
              <a:ext uri="{FF2B5EF4-FFF2-40B4-BE49-F238E27FC236}">
                <a16:creationId xmlns:a16="http://schemas.microsoft.com/office/drawing/2014/main" id="{055CEADF-09EA-423C-8C45-F94AF44D5A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686" y="2353592"/>
            <a:ext cx="329184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31F5202B-A335-7A6C-B3E8-F526F71CCB1E}"/>
              </a:ext>
            </a:extLst>
          </p:cNvPr>
          <p:cNvSpPr>
            <a:spLocks noGrp="1" noChangeArrowheads="1"/>
          </p:cNvSpPr>
          <p:nvPr>
            <p:ph idx="1"/>
          </p:nvPr>
        </p:nvSpPr>
        <p:spPr bwMode="auto">
          <a:xfrm>
            <a:off x="643467" y="2546224"/>
            <a:ext cx="3448259" cy="334274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endParaRPr kumimoji="0" lang="en-US" altLang="en-US" sz="1800" b="0" i="0" u="none" strike="noStrike" cap="none" normalizeH="0" baseline="0">
              <a:ln>
                <a:noFill/>
              </a:ln>
              <a:solidFill>
                <a:srgbClr val="FFFFFF"/>
              </a:solidFill>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a:ln>
                  <a:noFill/>
                </a:ln>
                <a:solidFill>
                  <a:srgbClr val="FFFFFF"/>
                </a:solidFill>
                <a:effectLst/>
                <a:latin typeface="Arial" panose="020B0604020202020204" pitchFamily="34" charset="0"/>
              </a:rPr>
              <a:t>Customer Trust Loss </a:t>
            </a:r>
          </a:p>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a:ln>
                  <a:noFill/>
                </a:ln>
                <a:solidFill>
                  <a:srgbClr val="FFFFFF"/>
                </a:solidFill>
                <a:effectLst/>
                <a:latin typeface="Arial" panose="020B0604020202020204" pitchFamily="34" charset="0"/>
              </a:rPr>
              <a:t>Financial Penalties </a:t>
            </a:r>
          </a:p>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a:ln>
                  <a:noFill/>
                </a:ln>
                <a:solidFill>
                  <a:srgbClr val="FFFFFF"/>
                </a:solidFill>
                <a:effectLst/>
                <a:latin typeface="Arial" panose="020B0604020202020204" pitchFamily="34" charset="0"/>
              </a:rPr>
              <a:t>Reputational Damage </a:t>
            </a:r>
          </a:p>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a:ln>
                  <a:noFill/>
                </a:ln>
                <a:solidFill>
                  <a:srgbClr val="FFFFFF"/>
                </a:solidFill>
                <a:effectLst/>
                <a:latin typeface="Arial" panose="020B0604020202020204" pitchFamily="34" charset="0"/>
              </a:rPr>
              <a:t>Legal Repercussions </a:t>
            </a:r>
          </a:p>
        </p:txBody>
      </p:sp>
      <p:pic>
        <p:nvPicPr>
          <p:cNvPr id="6" name="Picture 5">
            <a:extLst>
              <a:ext uri="{FF2B5EF4-FFF2-40B4-BE49-F238E27FC236}">
                <a16:creationId xmlns:a16="http://schemas.microsoft.com/office/drawing/2014/main" id="{933524E9-A748-DFFB-A4EC-DB2610EA4057}"/>
              </a:ext>
            </a:extLst>
          </p:cNvPr>
          <p:cNvPicPr>
            <a:picLocks noChangeAspect="1"/>
          </p:cNvPicPr>
          <p:nvPr/>
        </p:nvPicPr>
        <p:blipFill>
          <a:blip r:embed="rId3"/>
          <a:srcRect l="15341" r="21736" b="1"/>
          <a:stretch/>
        </p:blipFill>
        <p:spPr>
          <a:xfrm>
            <a:off x="4654296" y="10"/>
            <a:ext cx="7537703" cy="6857990"/>
          </a:xfrm>
          <a:prstGeom prst="rect">
            <a:avLst/>
          </a:prstGeom>
        </p:spPr>
      </p:pic>
    </p:spTree>
    <p:extLst>
      <p:ext uri="{BB962C8B-B14F-4D97-AF65-F5344CB8AC3E}">
        <p14:creationId xmlns:p14="http://schemas.microsoft.com/office/powerpoint/2010/main" val="3656418455"/>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844E128-FF69-4E9F-8327-6B504B3C5A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 y="0"/>
            <a:ext cx="12191985"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803C1FF4-8B8F-0999-6DD6-DFC22B235CFF}"/>
              </a:ext>
            </a:extLst>
          </p:cNvPr>
          <p:cNvSpPr>
            <a:spLocks noGrp="1"/>
          </p:cNvSpPr>
          <p:nvPr>
            <p:ph type="title"/>
          </p:nvPr>
        </p:nvSpPr>
        <p:spPr>
          <a:xfrm>
            <a:off x="741316" y="439862"/>
            <a:ext cx="3448259" cy="1666501"/>
          </a:xfrm>
        </p:spPr>
        <p:txBody>
          <a:bodyPr>
            <a:normAutofit/>
          </a:bodyPr>
          <a:lstStyle/>
          <a:p>
            <a:r>
              <a:rPr lang="en-US" sz="3400" b="1" dirty="0">
                <a:solidFill>
                  <a:srgbClr val="FFFFFF"/>
                </a:solidFill>
              </a:rPr>
              <a:t>Security Measures for SCM Systems</a:t>
            </a:r>
            <a:br>
              <a:rPr lang="en-US" sz="3400" b="1" dirty="0">
                <a:solidFill>
                  <a:srgbClr val="FFFFFF"/>
                </a:solidFill>
              </a:rPr>
            </a:br>
            <a:endParaRPr lang="en-US" sz="3400" dirty="0">
              <a:solidFill>
                <a:srgbClr val="FFFFFF"/>
              </a:solidFill>
            </a:endParaRPr>
          </a:p>
        </p:txBody>
      </p:sp>
      <p:cxnSp>
        <p:nvCxnSpPr>
          <p:cNvPr id="12" name="Straight Connector 11">
            <a:extLst>
              <a:ext uri="{FF2B5EF4-FFF2-40B4-BE49-F238E27FC236}">
                <a16:creationId xmlns:a16="http://schemas.microsoft.com/office/drawing/2014/main" id="{055CEADF-09EA-423C-8C45-F94AF44D5A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686" y="2353592"/>
            <a:ext cx="329184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8E51DB17-C4B2-9E0D-8489-CEE94AEB4109}"/>
              </a:ext>
            </a:extLst>
          </p:cNvPr>
          <p:cNvSpPr>
            <a:spLocks noGrp="1" noChangeArrowheads="1"/>
          </p:cNvSpPr>
          <p:nvPr>
            <p:ph idx="1"/>
          </p:nvPr>
        </p:nvSpPr>
        <p:spPr bwMode="auto">
          <a:xfrm>
            <a:off x="643467" y="2546224"/>
            <a:ext cx="3448259" cy="334274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endParaRPr kumimoji="0" lang="en-US" altLang="en-US" sz="1800" b="0" i="0" u="none" strike="noStrike" cap="none" normalizeH="0" baseline="0">
              <a:ln>
                <a:noFill/>
              </a:ln>
              <a:solidFill>
                <a:srgbClr val="FFFFFF"/>
              </a:solidFill>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a:ln>
                  <a:noFill/>
                </a:ln>
                <a:solidFill>
                  <a:srgbClr val="FFFFFF"/>
                </a:solidFill>
                <a:effectLst/>
                <a:latin typeface="Arial" panose="020B0604020202020204" pitchFamily="34" charset="0"/>
              </a:rPr>
              <a:t>Measure 1: Data Encryption </a:t>
            </a:r>
          </a:p>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a:ln>
                  <a:noFill/>
                </a:ln>
                <a:solidFill>
                  <a:srgbClr val="FFFFFF"/>
                </a:solidFill>
                <a:effectLst/>
                <a:latin typeface="Arial" panose="020B0604020202020204" pitchFamily="34" charset="0"/>
              </a:rPr>
              <a:t>Measure 2: Access Controls </a:t>
            </a:r>
          </a:p>
        </p:txBody>
      </p:sp>
      <p:pic>
        <p:nvPicPr>
          <p:cNvPr id="6" name="Picture 5" descr="Eye exam equipment">
            <a:extLst>
              <a:ext uri="{FF2B5EF4-FFF2-40B4-BE49-F238E27FC236}">
                <a16:creationId xmlns:a16="http://schemas.microsoft.com/office/drawing/2014/main" id="{0ED3C05F-B105-18DD-A416-EEE1AB0521D1}"/>
              </a:ext>
            </a:extLst>
          </p:cNvPr>
          <p:cNvPicPr>
            <a:picLocks noChangeAspect="1"/>
          </p:cNvPicPr>
          <p:nvPr/>
        </p:nvPicPr>
        <p:blipFill>
          <a:blip r:embed="rId3"/>
          <a:srcRect l="29628" r="8547"/>
          <a:stretch/>
        </p:blipFill>
        <p:spPr>
          <a:xfrm>
            <a:off x="4654296" y="10"/>
            <a:ext cx="7537703" cy="6857990"/>
          </a:xfrm>
          <a:prstGeom prst="rect">
            <a:avLst/>
          </a:prstGeom>
        </p:spPr>
      </p:pic>
    </p:spTree>
    <p:extLst>
      <p:ext uri="{BB962C8B-B14F-4D97-AF65-F5344CB8AC3E}">
        <p14:creationId xmlns:p14="http://schemas.microsoft.com/office/powerpoint/2010/main" val="624704842"/>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6" name="Rectangle 7175">
            <a:extLst>
              <a:ext uri="{FF2B5EF4-FFF2-40B4-BE49-F238E27FC236}">
                <a16:creationId xmlns:a16="http://schemas.microsoft.com/office/drawing/2014/main" id="{E844E128-FF69-4E9F-8327-6B504B3C5A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85"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7AEB0BB0-4CE9-8C34-409F-B5ABEB29DCA2}"/>
              </a:ext>
            </a:extLst>
          </p:cNvPr>
          <p:cNvSpPr>
            <a:spLocks noGrp="1"/>
          </p:cNvSpPr>
          <p:nvPr>
            <p:ph type="title"/>
          </p:nvPr>
        </p:nvSpPr>
        <p:spPr>
          <a:xfrm>
            <a:off x="5116783" y="516835"/>
            <a:ext cx="5977937" cy="1666501"/>
          </a:xfrm>
        </p:spPr>
        <p:txBody>
          <a:bodyPr>
            <a:normAutofit/>
          </a:bodyPr>
          <a:lstStyle/>
          <a:p>
            <a:r>
              <a:rPr lang="en-US" sz="4000">
                <a:solidFill>
                  <a:srgbClr val="FFFFFF"/>
                </a:solidFill>
              </a:rPr>
              <a:t>Security Measures for CRM Systems</a:t>
            </a:r>
          </a:p>
        </p:txBody>
      </p:sp>
      <p:pic>
        <p:nvPicPr>
          <p:cNvPr id="7171" name="Picture 3" descr="CRM systems data security measures ...">
            <a:extLst>
              <a:ext uri="{FF2B5EF4-FFF2-40B4-BE49-F238E27FC236}">
                <a16:creationId xmlns:a16="http://schemas.microsoft.com/office/drawing/2014/main" id="{29A1ABFD-531E-E22E-A079-628DF59813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8757" r="14459"/>
          <a:stretch/>
        </p:blipFill>
        <p:spPr bwMode="auto">
          <a:xfrm>
            <a:off x="20" y="10"/>
            <a:ext cx="4580077" cy="6857990"/>
          </a:xfrm>
          <a:prstGeom prst="rect">
            <a:avLst/>
          </a:prstGeom>
          <a:noFill/>
          <a:extLst>
            <a:ext uri="{909E8E84-426E-40DD-AFC4-6F175D3DCCD1}">
              <a14:hiddenFill xmlns:a14="http://schemas.microsoft.com/office/drawing/2010/main">
                <a:solidFill>
                  <a:srgbClr val="FFFFFF"/>
                </a:solidFill>
              </a14:hiddenFill>
            </a:ext>
          </a:extLst>
        </p:spPr>
      </p:pic>
      <p:cxnSp>
        <p:nvCxnSpPr>
          <p:cNvPr id="7178" name="Straight Connector 7177">
            <a:extLst>
              <a:ext uri="{FF2B5EF4-FFF2-40B4-BE49-F238E27FC236}">
                <a16:creationId xmlns:a16="http://schemas.microsoft.com/office/drawing/2014/main" id="{055CEADF-09EA-423C-8C45-F94AF44D5A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00864" y="2353592"/>
            <a:ext cx="566928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308758AB-8AA9-B1D5-F3C4-F6F22071FFE9}"/>
              </a:ext>
            </a:extLst>
          </p:cNvPr>
          <p:cNvSpPr>
            <a:spLocks noGrp="1" noChangeArrowheads="1"/>
          </p:cNvSpPr>
          <p:nvPr>
            <p:ph idx="1"/>
          </p:nvPr>
        </p:nvSpPr>
        <p:spPr bwMode="auto">
          <a:xfrm>
            <a:off x="5116784" y="2546224"/>
            <a:ext cx="5977938" cy="334274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endParaRPr kumimoji="0" lang="en-US" altLang="en-US" sz="1800" b="0" i="0" u="none" strike="noStrike" cap="none" normalizeH="0" baseline="0">
              <a:ln>
                <a:noFill/>
              </a:ln>
              <a:solidFill>
                <a:srgbClr val="FFFFFF"/>
              </a:solidFill>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a:ln>
                  <a:noFill/>
                </a:ln>
                <a:solidFill>
                  <a:srgbClr val="FFFFFF"/>
                </a:solidFill>
                <a:effectLst/>
                <a:latin typeface="Arial" panose="020B0604020202020204" pitchFamily="34" charset="0"/>
              </a:rPr>
              <a:t>Measure 1: Multi-Factor Authentication </a:t>
            </a:r>
          </a:p>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a:ln>
                  <a:noFill/>
                </a:ln>
                <a:solidFill>
                  <a:srgbClr val="FFFFFF"/>
                </a:solidFill>
                <a:effectLst/>
                <a:latin typeface="Arial" panose="020B0604020202020204" pitchFamily="34" charset="0"/>
              </a:rPr>
              <a:t>Measure 2: Employee Training </a:t>
            </a:r>
          </a:p>
        </p:txBody>
      </p:sp>
    </p:spTree>
    <p:extLst>
      <p:ext uri="{BB962C8B-B14F-4D97-AF65-F5344CB8AC3E}">
        <p14:creationId xmlns:p14="http://schemas.microsoft.com/office/powerpoint/2010/main" val="3929626914"/>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844E128-FF69-4E9F-8327-6B504B3C5A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85"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33CE8AA-2891-3127-6986-4A6DA349063E}"/>
              </a:ext>
            </a:extLst>
          </p:cNvPr>
          <p:cNvSpPr>
            <a:spLocks noGrp="1"/>
          </p:cNvSpPr>
          <p:nvPr>
            <p:ph type="title"/>
          </p:nvPr>
        </p:nvSpPr>
        <p:spPr>
          <a:xfrm>
            <a:off x="5116783" y="516835"/>
            <a:ext cx="5977937" cy="1666501"/>
          </a:xfrm>
        </p:spPr>
        <p:txBody>
          <a:bodyPr>
            <a:normAutofit/>
          </a:bodyPr>
          <a:lstStyle/>
          <a:p>
            <a:r>
              <a:rPr lang="en-US" sz="4000">
                <a:solidFill>
                  <a:srgbClr val="FFFFFF"/>
                </a:solidFill>
              </a:rPr>
              <a:t>Security Measures for ERP Systems</a:t>
            </a:r>
          </a:p>
        </p:txBody>
      </p:sp>
      <p:pic>
        <p:nvPicPr>
          <p:cNvPr id="5" name="Picture 4">
            <a:extLst>
              <a:ext uri="{FF2B5EF4-FFF2-40B4-BE49-F238E27FC236}">
                <a16:creationId xmlns:a16="http://schemas.microsoft.com/office/drawing/2014/main" id="{080F3A23-FF9C-D1E2-5BC2-F77660FEC05E}"/>
              </a:ext>
            </a:extLst>
          </p:cNvPr>
          <p:cNvPicPr>
            <a:picLocks noChangeAspect="1"/>
          </p:cNvPicPr>
          <p:nvPr/>
        </p:nvPicPr>
        <p:blipFill>
          <a:blip r:embed="rId3"/>
          <a:srcRect l="46598" r="15836"/>
          <a:stretch/>
        </p:blipFill>
        <p:spPr>
          <a:xfrm>
            <a:off x="20" y="10"/>
            <a:ext cx="4580077" cy="6857990"/>
          </a:xfrm>
          <a:prstGeom prst="rect">
            <a:avLst/>
          </a:prstGeom>
        </p:spPr>
      </p:pic>
      <p:cxnSp>
        <p:nvCxnSpPr>
          <p:cNvPr id="17" name="Straight Connector 16">
            <a:extLst>
              <a:ext uri="{FF2B5EF4-FFF2-40B4-BE49-F238E27FC236}">
                <a16:creationId xmlns:a16="http://schemas.microsoft.com/office/drawing/2014/main" id="{055CEADF-09EA-423C-8C45-F94AF44D5A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00864" y="2353592"/>
            <a:ext cx="566928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F439B22F-19C6-F137-B7ED-6E9930B0929A}"/>
              </a:ext>
            </a:extLst>
          </p:cNvPr>
          <p:cNvSpPr>
            <a:spLocks noGrp="1" noChangeArrowheads="1"/>
          </p:cNvSpPr>
          <p:nvPr>
            <p:ph idx="1"/>
          </p:nvPr>
        </p:nvSpPr>
        <p:spPr bwMode="auto">
          <a:xfrm>
            <a:off x="5116784" y="2546224"/>
            <a:ext cx="5977938" cy="334274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a:ln>
                  <a:noFill/>
                </a:ln>
                <a:solidFill>
                  <a:srgbClr val="FFFFFF"/>
                </a:solidFill>
                <a:effectLst/>
                <a:latin typeface="Arial" panose="020B0604020202020204" pitchFamily="34" charset="0"/>
              </a:rPr>
              <a:t>Measure 1: Regular Security Audits </a:t>
            </a:r>
          </a:p>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a:ln>
                  <a:noFill/>
                </a:ln>
                <a:solidFill>
                  <a:srgbClr val="FFFFFF"/>
                </a:solidFill>
                <a:effectLst/>
                <a:latin typeface="Arial" panose="020B0604020202020204" pitchFamily="34" charset="0"/>
              </a:rPr>
              <a:t>Measure 2: Patch Management </a:t>
            </a:r>
          </a:p>
          <a:p>
            <a:pPr marL="0" marR="0" lvl="0" indent="0" defTabSz="914400" rtl="0" eaLnBrk="0" fontAlgn="base" latinLnBrk="0" hangingPunct="0">
              <a:spcBef>
                <a:spcPct val="0"/>
              </a:spcBef>
              <a:spcAft>
                <a:spcPts val="600"/>
              </a:spcAft>
              <a:buClrTx/>
              <a:buSzTx/>
              <a:buFontTx/>
              <a:buNone/>
              <a:tabLst/>
            </a:pPr>
            <a:endParaRPr kumimoji="0" lang="en-US" altLang="en-US" sz="1800" b="0" i="0" u="none" strike="noStrike" cap="none" normalizeH="0" baseline="0">
              <a:ln>
                <a:noFill/>
              </a:ln>
              <a:solidFill>
                <a:srgbClr val="FFFFFF"/>
              </a:solidFill>
              <a:effectLst/>
              <a:latin typeface="Arial" panose="020B0604020202020204" pitchFamily="34" charset="0"/>
            </a:endParaRPr>
          </a:p>
        </p:txBody>
      </p:sp>
    </p:spTree>
    <p:extLst>
      <p:ext uri="{BB962C8B-B14F-4D97-AF65-F5344CB8AC3E}">
        <p14:creationId xmlns:p14="http://schemas.microsoft.com/office/powerpoint/2010/main" val="2719299807"/>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90D0034-F768-41E7-85D4-F38C4DE857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F742A71E-2837-CC5E-80F3-A9D8416D8F86}"/>
              </a:ext>
            </a:extLst>
          </p:cNvPr>
          <p:cNvPicPr>
            <a:picLocks noChangeAspect="1"/>
          </p:cNvPicPr>
          <p:nvPr/>
        </p:nvPicPr>
        <p:blipFill>
          <a:blip r:embed="rId3"/>
          <a:srcRect l="6690" r="20"/>
          <a:stretch/>
        </p:blipFill>
        <p:spPr>
          <a:xfrm>
            <a:off x="2843" y="10"/>
            <a:ext cx="12186315" cy="6857990"/>
          </a:xfrm>
          <a:prstGeom prst="rect">
            <a:avLst/>
          </a:prstGeom>
        </p:spPr>
      </p:pic>
      <p:sp>
        <p:nvSpPr>
          <p:cNvPr id="22" name="Rectangle 21">
            <a:extLst>
              <a:ext uri="{FF2B5EF4-FFF2-40B4-BE49-F238E27FC236}">
                <a16:creationId xmlns:a16="http://schemas.microsoft.com/office/drawing/2014/main" id="{95B38FD6-641F-41BF-B466-C1C6366420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7474" y="1238442"/>
            <a:ext cx="3635926" cy="4355751"/>
          </a:xfrm>
          <a:prstGeom prst="rect">
            <a:avLst/>
          </a:prstGeom>
          <a:solidFill>
            <a:srgbClr val="000000">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4D15DE-41A8-385B-3676-A544F82448AC}"/>
              </a:ext>
            </a:extLst>
          </p:cNvPr>
          <p:cNvSpPr>
            <a:spLocks noGrp="1"/>
          </p:cNvSpPr>
          <p:nvPr>
            <p:ph type="title"/>
          </p:nvPr>
        </p:nvSpPr>
        <p:spPr>
          <a:xfrm>
            <a:off x="948648" y="1419273"/>
            <a:ext cx="3153580" cy="1358188"/>
          </a:xfrm>
        </p:spPr>
        <p:txBody>
          <a:bodyPr>
            <a:normAutofit/>
          </a:bodyPr>
          <a:lstStyle/>
          <a:p>
            <a:r>
              <a:rPr lang="en-US" sz="3600">
                <a:solidFill>
                  <a:srgbClr val="FFFFFF"/>
                </a:solidFill>
              </a:rPr>
              <a:t>Dependencies for Security</a:t>
            </a:r>
          </a:p>
        </p:txBody>
      </p:sp>
      <p:cxnSp>
        <p:nvCxnSpPr>
          <p:cNvPr id="19" name="Straight Connector 18">
            <a:extLst>
              <a:ext uri="{FF2B5EF4-FFF2-40B4-BE49-F238E27FC236}">
                <a16:creationId xmlns:a16="http://schemas.microsoft.com/office/drawing/2014/main" id="{6BF9119E-766E-4526-AAE5-639F577C04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38277" y="2865016"/>
            <a:ext cx="292608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104CE035-0055-AF56-6CC8-08AB5CDD11AA}"/>
              </a:ext>
            </a:extLst>
          </p:cNvPr>
          <p:cNvSpPr>
            <a:spLocks noGrp="1" noChangeArrowheads="1"/>
          </p:cNvSpPr>
          <p:nvPr>
            <p:ph idx="1"/>
          </p:nvPr>
        </p:nvSpPr>
        <p:spPr bwMode="auto">
          <a:xfrm>
            <a:off x="948648" y="2978254"/>
            <a:ext cx="3153580" cy="244423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endParaRPr kumimoji="0" lang="en-US" altLang="en-US" sz="1600" b="0" i="0" u="none" strike="noStrike" cap="none" normalizeH="0" baseline="0">
              <a:ln>
                <a:noFill/>
              </a:ln>
              <a:solidFill>
                <a:srgbClr val="FFFFFF"/>
              </a:solidFill>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600" b="0" i="0" u="none" strike="noStrike" cap="none" normalizeH="0" baseline="0">
                <a:ln>
                  <a:noFill/>
                </a:ln>
                <a:solidFill>
                  <a:srgbClr val="FFFFFF"/>
                </a:solidFill>
                <a:effectLst/>
                <a:latin typeface="Arial" panose="020B0604020202020204" pitchFamily="34" charset="0"/>
              </a:rPr>
              <a:t>Staff Training </a:t>
            </a:r>
          </a:p>
          <a:p>
            <a:pPr marL="0" marR="0" lvl="0" indent="0" defTabSz="914400" rtl="0" eaLnBrk="0" fontAlgn="base" latinLnBrk="0" hangingPunct="0">
              <a:spcBef>
                <a:spcPct val="0"/>
              </a:spcBef>
              <a:spcAft>
                <a:spcPts val="600"/>
              </a:spcAft>
              <a:buClrTx/>
              <a:buSzTx/>
              <a:buFontTx/>
              <a:buChar char="•"/>
              <a:tabLst/>
            </a:pPr>
            <a:r>
              <a:rPr kumimoji="0" lang="en-US" altLang="en-US" sz="1600" b="0" i="0" u="none" strike="noStrike" cap="none" normalizeH="0" baseline="0">
                <a:ln>
                  <a:noFill/>
                </a:ln>
                <a:solidFill>
                  <a:srgbClr val="FFFFFF"/>
                </a:solidFill>
                <a:effectLst/>
                <a:latin typeface="Arial" panose="020B0604020202020204" pitchFamily="34" charset="0"/>
              </a:rPr>
              <a:t>Budget Allocation </a:t>
            </a:r>
          </a:p>
          <a:p>
            <a:pPr marL="0" marR="0" lvl="0" indent="0" defTabSz="914400" rtl="0" eaLnBrk="0" fontAlgn="base" latinLnBrk="0" hangingPunct="0">
              <a:spcBef>
                <a:spcPct val="0"/>
              </a:spcBef>
              <a:spcAft>
                <a:spcPts val="600"/>
              </a:spcAft>
              <a:buClrTx/>
              <a:buSzTx/>
              <a:buFontTx/>
              <a:buChar char="•"/>
              <a:tabLst/>
            </a:pPr>
            <a:r>
              <a:rPr kumimoji="0" lang="en-US" altLang="en-US" sz="1600" b="0" i="0" u="none" strike="noStrike" cap="none" normalizeH="0" baseline="0">
                <a:ln>
                  <a:noFill/>
                </a:ln>
                <a:solidFill>
                  <a:srgbClr val="FFFFFF"/>
                </a:solidFill>
                <a:effectLst/>
                <a:latin typeface="Arial" panose="020B0604020202020204" pitchFamily="34" charset="0"/>
              </a:rPr>
              <a:t>Executive Support </a:t>
            </a:r>
          </a:p>
          <a:p>
            <a:pPr marL="0" marR="0" lvl="0" indent="0" defTabSz="914400" rtl="0" eaLnBrk="0" fontAlgn="base" latinLnBrk="0" hangingPunct="0">
              <a:spcBef>
                <a:spcPct val="0"/>
              </a:spcBef>
              <a:spcAft>
                <a:spcPts val="600"/>
              </a:spcAft>
              <a:buClrTx/>
              <a:buSzTx/>
              <a:buFontTx/>
              <a:buChar char="•"/>
              <a:tabLst/>
            </a:pPr>
            <a:r>
              <a:rPr kumimoji="0" lang="en-US" altLang="en-US" sz="1600" b="0" i="0" u="none" strike="noStrike" cap="none" normalizeH="0" baseline="0">
                <a:ln>
                  <a:noFill/>
                </a:ln>
                <a:solidFill>
                  <a:srgbClr val="FFFFFF"/>
                </a:solidFill>
                <a:effectLst/>
                <a:latin typeface="Arial" panose="020B0604020202020204" pitchFamily="34" charset="0"/>
              </a:rPr>
              <a:t>Customer Awareness </a:t>
            </a:r>
          </a:p>
          <a:p>
            <a:pPr marL="0" marR="0" lvl="0" indent="0" defTabSz="914400" rtl="0" eaLnBrk="0" fontAlgn="base" latinLnBrk="0" hangingPunct="0">
              <a:spcBef>
                <a:spcPct val="0"/>
              </a:spcBef>
              <a:spcAft>
                <a:spcPts val="600"/>
              </a:spcAft>
              <a:buClrTx/>
              <a:buSzTx/>
              <a:buFontTx/>
              <a:buChar char="•"/>
              <a:tabLst/>
            </a:pPr>
            <a:r>
              <a:rPr kumimoji="0" lang="en-US" altLang="en-US" sz="1600" b="0" i="0" u="none" strike="noStrike" cap="none" normalizeH="0" baseline="0">
                <a:ln>
                  <a:noFill/>
                </a:ln>
                <a:solidFill>
                  <a:srgbClr val="FFFFFF"/>
                </a:solidFill>
                <a:effectLst/>
                <a:latin typeface="Arial" panose="020B0604020202020204" pitchFamily="34" charset="0"/>
              </a:rPr>
              <a:t>Communication Strategy </a:t>
            </a:r>
          </a:p>
        </p:txBody>
      </p:sp>
      <p:sp>
        <p:nvSpPr>
          <p:cNvPr id="21" name="!!footer rectangle">
            <a:extLst>
              <a:ext uri="{FF2B5EF4-FFF2-40B4-BE49-F238E27FC236}">
                <a16:creationId xmlns:a16="http://schemas.microsoft.com/office/drawing/2014/main" id="{1FE461C7-FF45-427F-83D7-18DFBD4818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699702201"/>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E844E128-FF69-4E9F-8327-6B504B3C5A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85"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F8770A11-17A8-FF43-FE46-C296D2FA9B72}"/>
              </a:ext>
            </a:extLst>
          </p:cNvPr>
          <p:cNvSpPr>
            <a:spLocks noGrp="1"/>
          </p:cNvSpPr>
          <p:nvPr>
            <p:ph type="title"/>
          </p:nvPr>
        </p:nvSpPr>
        <p:spPr>
          <a:xfrm>
            <a:off x="5116783" y="516835"/>
            <a:ext cx="5977937" cy="1666501"/>
          </a:xfrm>
        </p:spPr>
        <p:txBody>
          <a:bodyPr>
            <a:normAutofit/>
          </a:bodyPr>
          <a:lstStyle/>
          <a:p>
            <a:r>
              <a:rPr lang="en-US" sz="4000">
                <a:solidFill>
                  <a:srgbClr val="FFFFFF"/>
                </a:solidFill>
              </a:rPr>
              <a:t>Vendor Responses to Security Threats</a:t>
            </a:r>
          </a:p>
        </p:txBody>
      </p:sp>
      <p:pic>
        <p:nvPicPr>
          <p:cNvPr id="5" name="Picture 4">
            <a:extLst>
              <a:ext uri="{FF2B5EF4-FFF2-40B4-BE49-F238E27FC236}">
                <a16:creationId xmlns:a16="http://schemas.microsoft.com/office/drawing/2014/main" id="{346D9AA7-58B2-FEC2-B28A-F1895DD4C139}"/>
              </a:ext>
            </a:extLst>
          </p:cNvPr>
          <p:cNvPicPr>
            <a:picLocks noChangeAspect="1"/>
          </p:cNvPicPr>
          <p:nvPr/>
        </p:nvPicPr>
        <p:blipFill>
          <a:blip r:embed="rId3"/>
          <a:srcRect l="30374" r="32227"/>
          <a:stretch/>
        </p:blipFill>
        <p:spPr>
          <a:xfrm>
            <a:off x="20" y="10"/>
            <a:ext cx="4580077" cy="6857990"/>
          </a:xfrm>
          <a:prstGeom prst="rect">
            <a:avLst/>
          </a:prstGeom>
        </p:spPr>
      </p:pic>
      <p:cxnSp>
        <p:nvCxnSpPr>
          <p:cNvPr id="19" name="Straight Connector 18">
            <a:extLst>
              <a:ext uri="{FF2B5EF4-FFF2-40B4-BE49-F238E27FC236}">
                <a16:creationId xmlns:a16="http://schemas.microsoft.com/office/drawing/2014/main" id="{055CEADF-09EA-423C-8C45-F94AF44D5A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00864" y="2353592"/>
            <a:ext cx="566928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10E2A07-1CED-AF19-8D52-7724361E81A9}"/>
              </a:ext>
            </a:extLst>
          </p:cNvPr>
          <p:cNvSpPr>
            <a:spLocks noGrp="1"/>
          </p:cNvSpPr>
          <p:nvPr>
            <p:ph idx="1"/>
          </p:nvPr>
        </p:nvSpPr>
        <p:spPr>
          <a:xfrm>
            <a:off x="5116784" y="2546224"/>
            <a:ext cx="5977938" cy="3342747"/>
          </a:xfrm>
        </p:spPr>
        <p:txBody>
          <a:bodyPr>
            <a:normAutofit/>
          </a:bodyPr>
          <a:lstStyle/>
          <a:p>
            <a:pPr marL="0" marR="0" lvl="0" indent="0" defTabSz="914400" rtl="0" eaLnBrk="0" fontAlgn="base" latinLnBrk="0" hangingPunct="0">
              <a:lnSpc>
                <a:spcPct val="90000"/>
              </a:lnSpc>
              <a:spcBef>
                <a:spcPct val="0"/>
              </a:spcBef>
              <a:spcAft>
                <a:spcPct val="0"/>
              </a:spcAft>
              <a:buClrTx/>
              <a:buSzTx/>
              <a:buFontTx/>
              <a:buChar char="•"/>
              <a:tabLst/>
            </a:pPr>
            <a:r>
              <a:rPr kumimoji="0" lang="en-US" altLang="en-US" sz="1500" b="1" i="0" u="none" strike="noStrike" cap="none" normalizeH="0" baseline="0">
                <a:ln>
                  <a:noFill/>
                </a:ln>
                <a:solidFill>
                  <a:srgbClr val="FFFFFF"/>
                </a:solidFill>
                <a:effectLst/>
                <a:latin typeface="Arial" panose="020B0604020202020204" pitchFamily="34" charset="0"/>
              </a:rPr>
              <a:t>Secure Development:</a:t>
            </a:r>
          </a:p>
          <a:p>
            <a:pPr marL="0" marR="0" lvl="0" indent="0" defTabSz="914400" rtl="0" eaLnBrk="0" fontAlgn="base" latinLnBrk="0" hangingPunct="0">
              <a:lnSpc>
                <a:spcPct val="90000"/>
              </a:lnSpc>
              <a:spcBef>
                <a:spcPct val="0"/>
              </a:spcBef>
              <a:spcAft>
                <a:spcPct val="0"/>
              </a:spcAft>
              <a:buClrTx/>
              <a:buSzTx/>
              <a:buFontTx/>
              <a:buChar char="•"/>
              <a:tabLst/>
            </a:pPr>
            <a:r>
              <a:rPr kumimoji="0" lang="en-US" altLang="en-US" sz="1500" b="1" i="0" u="none" strike="noStrike" cap="none" normalizeH="0" baseline="0">
                <a:ln>
                  <a:noFill/>
                </a:ln>
                <a:solidFill>
                  <a:srgbClr val="FFFFFF"/>
                </a:solidFill>
                <a:effectLst/>
                <a:latin typeface="Arial" panose="020B0604020202020204" pitchFamily="34" charset="0"/>
              </a:rPr>
              <a:t>SAP: Secure SDLC, automated scans </a:t>
            </a:r>
          </a:p>
          <a:p>
            <a:pPr marL="0" marR="0" lvl="0" indent="0" defTabSz="914400" rtl="0" eaLnBrk="0" fontAlgn="base" latinLnBrk="0" hangingPunct="0">
              <a:lnSpc>
                <a:spcPct val="90000"/>
              </a:lnSpc>
              <a:spcBef>
                <a:spcPct val="0"/>
              </a:spcBef>
              <a:spcAft>
                <a:spcPct val="0"/>
              </a:spcAft>
              <a:buClrTx/>
              <a:buSzTx/>
              <a:buFontTx/>
              <a:buChar char="•"/>
              <a:tabLst/>
            </a:pPr>
            <a:r>
              <a:rPr kumimoji="0" lang="en-US" altLang="en-US" sz="1500" b="1" i="0" u="none" strike="noStrike" cap="none" normalizeH="0" baseline="0">
                <a:ln>
                  <a:noFill/>
                </a:ln>
                <a:solidFill>
                  <a:srgbClr val="FFFFFF"/>
                </a:solidFill>
                <a:effectLst/>
                <a:latin typeface="Arial" panose="020B0604020202020204" pitchFamily="34" charset="0"/>
              </a:rPr>
              <a:t>Oracle: Critical Patch Updates, security testing </a:t>
            </a:r>
          </a:p>
          <a:p>
            <a:pPr marL="0" marR="0" lvl="0" indent="0" defTabSz="914400" rtl="0" eaLnBrk="0" fontAlgn="base" latinLnBrk="0" hangingPunct="0">
              <a:lnSpc>
                <a:spcPct val="90000"/>
              </a:lnSpc>
              <a:spcBef>
                <a:spcPct val="0"/>
              </a:spcBef>
              <a:spcAft>
                <a:spcPct val="0"/>
              </a:spcAft>
              <a:buClrTx/>
              <a:buSzTx/>
              <a:buFontTx/>
              <a:buChar char="•"/>
              <a:tabLst/>
            </a:pPr>
            <a:r>
              <a:rPr kumimoji="0" lang="en-US" altLang="en-US" sz="1500" b="1" i="0" u="none" strike="noStrike" cap="none" normalizeH="0" baseline="0">
                <a:ln>
                  <a:noFill/>
                </a:ln>
                <a:solidFill>
                  <a:srgbClr val="FFFFFF"/>
                </a:solidFill>
                <a:effectLst/>
                <a:latin typeface="Arial" panose="020B0604020202020204" pitchFamily="34" charset="0"/>
              </a:rPr>
              <a:t>Salesforce: Code analysis, penetration testing </a:t>
            </a:r>
          </a:p>
          <a:p>
            <a:pPr marL="0" marR="0" lvl="0" indent="0" defTabSz="914400" rtl="0" eaLnBrk="0" fontAlgn="base" latinLnBrk="0" hangingPunct="0">
              <a:lnSpc>
                <a:spcPct val="90000"/>
              </a:lnSpc>
              <a:spcBef>
                <a:spcPct val="0"/>
              </a:spcBef>
              <a:spcAft>
                <a:spcPct val="0"/>
              </a:spcAft>
              <a:buClrTx/>
              <a:buSzTx/>
              <a:buFontTx/>
              <a:buChar char="•"/>
              <a:tabLst/>
            </a:pPr>
            <a:r>
              <a:rPr kumimoji="0" lang="en-US" altLang="en-US" sz="1500" b="1" i="0" u="none" strike="noStrike" cap="none" normalizeH="0" baseline="0">
                <a:ln>
                  <a:noFill/>
                </a:ln>
                <a:solidFill>
                  <a:srgbClr val="FFFFFF"/>
                </a:solidFill>
                <a:effectLst/>
                <a:latin typeface="Arial" panose="020B0604020202020204" pitchFamily="34" charset="0"/>
              </a:rPr>
              <a:t>Data Encryption &amp; Access Control:</a:t>
            </a:r>
          </a:p>
          <a:p>
            <a:pPr marL="0" marR="0" lvl="0" indent="0" defTabSz="914400" rtl="0" eaLnBrk="0" fontAlgn="base" latinLnBrk="0" hangingPunct="0">
              <a:lnSpc>
                <a:spcPct val="90000"/>
              </a:lnSpc>
              <a:spcBef>
                <a:spcPct val="0"/>
              </a:spcBef>
              <a:spcAft>
                <a:spcPct val="0"/>
              </a:spcAft>
              <a:buClrTx/>
              <a:buSzTx/>
              <a:buFontTx/>
              <a:buChar char="•"/>
              <a:tabLst/>
            </a:pPr>
            <a:r>
              <a:rPr kumimoji="0" lang="en-US" altLang="en-US" sz="1500" b="1" i="0" u="none" strike="noStrike" cap="none" normalizeH="0" baseline="0">
                <a:ln>
                  <a:noFill/>
                </a:ln>
                <a:solidFill>
                  <a:srgbClr val="FFFFFF"/>
                </a:solidFill>
                <a:effectLst/>
                <a:latin typeface="Arial" panose="020B0604020202020204" pitchFamily="34" charset="0"/>
              </a:rPr>
              <a:t>SAP: Data Custodian, encryption </a:t>
            </a:r>
          </a:p>
          <a:p>
            <a:pPr marL="0" marR="0" lvl="0" indent="0" defTabSz="914400" rtl="0" eaLnBrk="0" fontAlgn="base" latinLnBrk="0" hangingPunct="0">
              <a:lnSpc>
                <a:spcPct val="90000"/>
              </a:lnSpc>
              <a:spcBef>
                <a:spcPct val="0"/>
              </a:spcBef>
              <a:spcAft>
                <a:spcPct val="0"/>
              </a:spcAft>
              <a:buClrTx/>
              <a:buSzTx/>
              <a:buFontTx/>
              <a:buChar char="•"/>
              <a:tabLst/>
            </a:pPr>
            <a:r>
              <a:rPr kumimoji="0" lang="en-US" altLang="en-US" sz="1500" b="1" i="0" u="none" strike="noStrike" cap="none" normalizeH="0" baseline="0">
                <a:ln>
                  <a:noFill/>
                </a:ln>
                <a:solidFill>
                  <a:srgbClr val="FFFFFF"/>
                </a:solidFill>
                <a:effectLst/>
                <a:latin typeface="Arial" panose="020B0604020202020204" pitchFamily="34" charset="0"/>
              </a:rPr>
              <a:t>Oracle: Transparent Data Encryption (TDE) </a:t>
            </a:r>
          </a:p>
          <a:p>
            <a:pPr marL="0" marR="0" lvl="0" indent="0" defTabSz="914400" rtl="0" eaLnBrk="0" fontAlgn="base" latinLnBrk="0" hangingPunct="0">
              <a:lnSpc>
                <a:spcPct val="90000"/>
              </a:lnSpc>
              <a:spcBef>
                <a:spcPct val="0"/>
              </a:spcBef>
              <a:spcAft>
                <a:spcPct val="0"/>
              </a:spcAft>
              <a:buClrTx/>
              <a:buSzTx/>
              <a:buFontTx/>
              <a:buChar char="•"/>
              <a:tabLst/>
            </a:pPr>
            <a:r>
              <a:rPr kumimoji="0" lang="en-US" altLang="en-US" sz="1500" b="1" i="0" u="none" strike="noStrike" cap="none" normalizeH="0" baseline="0">
                <a:ln>
                  <a:noFill/>
                </a:ln>
                <a:solidFill>
                  <a:srgbClr val="FFFFFF"/>
                </a:solidFill>
                <a:effectLst/>
                <a:latin typeface="Arial" panose="020B0604020202020204" pitchFamily="34" charset="0"/>
              </a:rPr>
              <a:t>Salesforce: Shield Platform Encryption </a:t>
            </a:r>
          </a:p>
          <a:p>
            <a:pPr marL="0" marR="0" lvl="0" indent="0" defTabSz="914400" rtl="0" eaLnBrk="0" fontAlgn="base" latinLnBrk="0" hangingPunct="0">
              <a:lnSpc>
                <a:spcPct val="90000"/>
              </a:lnSpc>
              <a:spcBef>
                <a:spcPct val="0"/>
              </a:spcBef>
              <a:spcAft>
                <a:spcPct val="0"/>
              </a:spcAft>
              <a:buClrTx/>
              <a:buSzTx/>
              <a:buFontTx/>
              <a:buChar char="•"/>
              <a:tabLst/>
            </a:pPr>
            <a:r>
              <a:rPr kumimoji="0" lang="en-US" altLang="en-US" sz="1500" b="1" i="0" u="none" strike="noStrike" cap="none" normalizeH="0" baseline="0">
                <a:ln>
                  <a:noFill/>
                </a:ln>
                <a:solidFill>
                  <a:srgbClr val="FFFFFF"/>
                </a:solidFill>
                <a:effectLst/>
                <a:latin typeface="Arial" panose="020B0604020202020204" pitchFamily="34" charset="0"/>
              </a:rPr>
              <a:t>IAM &amp; Threat Detection:</a:t>
            </a:r>
          </a:p>
          <a:p>
            <a:pPr marL="0" marR="0" lvl="0" indent="0" defTabSz="914400" rtl="0" eaLnBrk="0" fontAlgn="base" latinLnBrk="0" hangingPunct="0">
              <a:lnSpc>
                <a:spcPct val="90000"/>
              </a:lnSpc>
              <a:spcBef>
                <a:spcPct val="0"/>
              </a:spcBef>
              <a:spcAft>
                <a:spcPct val="0"/>
              </a:spcAft>
              <a:buClrTx/>
              <a:buSzTx/>
              <a:buFontTx/>
              <a:buChar char="•"/>
              <a:tabLst/>
            </a:pPr>
            <a:r>
              <a:rPr kumimoji="0" lang="en-US" altLang="en-US" sz="1500" b="1" i="0" u="none" strike="noStrike" cap="none" normalizeH="0" baseline="0">
                <a:ln>
                  <a:noFill/>
                </a:ln>
                <a:solidFill>
                  <a:srgbClr val="FFFFFF"/>
                </a:solidFill>
                <a:effectLst/>
                <a:latin typeface="Arial" panose="020B0604020202020204" pitchFamily="34" charset="0"/>
              </a:rPr>
              <a:t>SAP: Identity Management, MFA, Threat Detection </a:t>
            </a:r>
          </a:p>
          <a:p>
            <a:pPr marL="0" marR="0" lvl="0" indent="0" defTabSz="914400" rtl="0" eaLnBrk="0" fontAlgn="base" latinLnBrk="0" hangingPunct="0">
              <a:lnSpc>
                <a:spcPct val="90000"/>
              </a:lnSpc>
              <a:spcBef>
                <a:spcPct val="0"/>
              </a:spcBef>
              <a:spcAft>
                <a:spcPct val="0"/>
              </a:spcAft>
              <a:buClrTx/>
              <a:buSzTx/>
              <a:buFontTx/>
              <a:buChar char="•"/>
              <a:tabLst/>
            </a:pPr>
            <a:r>
              <a:rPr kumimoji="0" lang="en-US" altLang="en-US" sz="1500" b="1" i="0" u="none" strike="noStrike" cap="none" normalizeH="0" baseline="0">
                <a:ln>
                  <a:noFill/>
                </a:ln>
                <a:solidFill>
                  <a:srgbClr val="FFFFFF"/>
                </a:solidFill>
                <a:effectLst/>
                <a:latin typeface="Arial" panose="020B0604020202020204" pitchFamily="34" charset="0"/>
              </a:rPr>
              <a:t>Oracle: Identity Cloud Service (IDCS), Cloud Guard </a:t>
            </a:r>
          </a:p>
          <a:p>
            <a:pPr marL="0" marR="0" lvl="0" indent="0" defTabSz="914400" rtl="0" eaLnBrk="0" fontAlgn="base" latinLnBrk="0" hangingPunct="0">
              <a:lnSpc>
                <a:spcPct val="90000"/>
              </a:lnSpc>
              <a:spcBef>
                <a:spcPct val="0"/>
              </a:spcBef>
              <a:spcAft>
                <a:spcPct val="0"/>
              </a:spcAft>
              <a:buClrTx/>
              <a:buSzTx/>
              <a:buFontTx/>
              <a:buChar char="•"/>
              <a:tabLst/>
            </a:pPr>
            <a:r>
              <a:rPr kumimoji="0" lang="en-US" altLang="en-US" sz="1500" b="1" i="0" u="none" strike="noStrike" cap="none" normalizeH="0" baseline="0">
                <a:ln>
                  <a:noFill/>
                </a:ln>
                <a:solidFill>
                  <a:srgbClr val="FFFFFF"/>
                </a:solidFill>
                <a:effectLst/>
                <a:latin typeface="Arial" panose="020B0604020202020204" pitchFamily="34" charset="0"/>
              </a:rPr>
              <a:t>Salesforce: MFA, Event Monitoring, AI analysis </a:t>
            </a:r>
          </a:p>
          <a:p>
            <a:pPr marL="0" marR="0" lvl="0" indent="0" defTabSz="914400" rtl="0" eaLnBrk="0" fontAlgn="base" latinLnBrk="0" hangingPunct="0">
              <a:lnSpc>
                <a:spcPct val="90000"/>
              </a:lnSpc>
              <a:spcBef>
                <a:spcPct val="0"/>
              </a:spcBef>
              <a:spcAft>
                <a:spcPct val="0"/>
              </a:spcAft>
              <a:buClrTx/>
              <a:buSzTx/>
              <a:buFontTx/>
              <a:buChar char="•"/>
              <a:tabLst/>
            </a:pPr>
            <a:r>
              <a:rPr kumimoji="0" lang="en-US" altLang="en-US" sz="1500" b="1" i="0" u="none" strike="noStrike" cap="none" normalizeH="0" baseline="0">
                <a:ln>
                  <a:noFill/>
                </a:ln>
                <a:solidFill>
                  <a:srgbClr val="FFFFFF"/>
                </a:solidFill>
                <a:effectLst/>
                <a:latin typeface="Arial" panose="020B0604020202020204" pitchFamily="34" charset="0"/>
              </a:rPr>
              <a:t>Compliance &amp; Patching:</a:t>
            </a:r>
          </a:p>
          <a:p>
            <a:pPr marL="0" marR="0" lvl="0" indent="0" defTabSz="914400" rtl="0" eaLnBrk="0" fontAlgn="base" latinLnBrk="0" hangingPunct="0">
              <a:lnSpc>
                <a:spcPct val="90000"/>
              </a:lnSpc>
              <a:spcBef>
                <a:spcPct val="0"/>
              </a:spcBef>
              <a:spcAft>
                <a:spcPct val="0"/>
              </a:spcAft>
              <a:buClrTx/>
              <a:buSzTx/>
              <a:buFontTx/>
              <a:buChar char="•"/>
              <a:tabLst/>
            </a:pPr>
            <a:r>
              <a:rPr kumimoji="0" lang="en-US" altLang="en-US" sz="1500" b="1" i="0" u="none" strike="noStrike" cap="none" normalizeH="0" baseline="0">
                <a:ln>
                  <a:noFill/>
                </a:ln>
                <a:solidFill>
                  <a:srgbClr val="FFFFFF"/>
                </a:solidFill>
                <a:effectLst/>
                <a:latin typeface="Arial" panose="020B0604020202020204" pitchFamily="34" charset="0"/>
              </a:rPr>
              <a:t>All: GDPR, HIPAA, SOC 2, ISO 27001 compliant </a:t>
            </a:r>
          </a:p>
          <a:p>
            <a:pPr marL="0" marR="0" lvl="0" indent="0" defTabSz="914400" rtl="0" eaLnBrk="0" fontAlgn="base" latinLnBrk="0" hangingPunct="0">
              <a:lnSpc>
                <a:spcPct val="90000"/>
              </a:lnSpc>
              <a:spcBef>
                <a:spcPct val="0"/>
              </a:spcBef>
              <a:spcAft>
                <a:spcPct val="0"/>
              </a:spcAft>
              <a:buClrTx/>
              <a:buSzTx/>
              <a:buFontTx/>
              <a:buChar char="•"/>
              <a:tabLst/>
            </a:pPr>
            <a:r>
              <a:rPr kumimoji="0" lang="en-US" altLang="en-US" sz="1500" b="1" i="0" u="none" strike="noStrike" cap="none" normalizeH="0" baseline="0">
                <a:ln>
                  <a:noFill/>
                </a:ln>
                <a:solidFill>
                  <a:srgbClr val="FFFFFF"/>
                </a:solidFill>
                <a:effectLst/>
                <a:latin typeface="Arial" panose="020B0604020202020204" pitchFamily="34" charset="0"/>
              </a:rPr>
              <a:t>Regular updates and automated security patches</a:t>
            </a:r>
          </a:p>
          <a:p>
            <a:pPr>
              <a:lnSpc>
                <a:spcPct val="90000"/>
              </a:lnSpc>
            </a:pPr>
            <a:endParaRPr lang="en-US" sz="1500">
              <a:solidFill>
                <a:srgbClr val="FFFFFF"/>
              </a:solidFill>
            </a:endParaRPr>
          </a:p>
        </p:txBody>
      </p:sp>
    </p:spTree>
    <p:extLst>
      <p:ext uri="{BB962C8B-B14F-4D97-AF65-F5344CB8AC3E}">
        <p14:creationId xmlns:p14="http://schemas.microsoft.com/office/powerpoint/2010/main" val="2361491861"/>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44E128-FF69-4E9F-8327-6B504B3C5A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 y="0"/>
            <a:ext cx="12191985"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0B57F660-B473-CAA7-6612-B5EE843E620A}"/>
              </a:ext>
            </a:extLst>
          </p:cNvPr>
          <p:cNvSpPr>
            <a:spLocks noGrp="1"/>
          </p:cNvSpPr>
          <p:nvPr>
            <p:ph type="title"/>
          </p:nvPr>
        </p:nvSpPr>
        <p:spPr>
          <a:xfrm>
            <a:off x="643467" y="516835"/>
            <a:ext cx="3448259" cy="1666501"/>
          </a:xfrm>
        </p:spPr>
        <p:txBody>
          <a:bodyPr>
            <a:normAutofit/>
          </a:bodyPr>
          <a:lstStyle/>
          <a:p>
            <a:r>
              <a:rPr lang="en-US" sz="4000">
                <a:solidFill>
                  <a:srgbClr val="FFFFFF"/>
                </a:solidFill>
              </a:rPr>
              <a:t>Conclusion</a:t>
            </a:r>
          </a:p>
        </p:txBody>
      </p:sp>
      <p:cxnSp>
        <p:nvCxnSpPr>
          <p:cNvPr id="11" name="Straight Connector 10">
            <a:extLst>
              <a:ext uri="{FF2B5EF4-FFF2-40B4-BE49-F238E27FC236}">
                <a16:creationId xmlns:a16="http://schemas.microsoft.com/office/drawing/2014/main" id="{055CEADF-09EA-423C-8C45-F94AF44D5A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686" y="2353592"/>
            <a:ext cx="329184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4AC3A30-493B-1968-C403-C95F0F9288FC}"/>
              </a:ext>
            </a:extLst>
          </p:cNvPr>
          <p:cNvSpPr>
            <a:spLocks noGrp="1"/>
          </p:cNvSpPr>
          <p:nvPr>
            <p:ph idx="1"/>
          </p:nvPr>
        </p:nvSpPr>
        <p:spPr>
          <a:xfrm>
            <a:off x="643467" y="2546224"/>
            <a:ext cx="3448259" cy="3342747"/>
          </a:xfrm>
        </p:spPr>
        <p:txBody>
          <a:bodyPr>
            <a:normAutofit/>
          </a:bodyPr>
          <a:lstStyle/>
          <a:p>
            <a:pPr>
              <a:buFont typeface="Arial" panose="020B0604020202020204" pitchFamily="34" charset="0"/>
              <a:buChar char="•"/>
            </a:pPr>
            <a:r>
              <a:rPr lang="en-US" sz="1800">
                <a:solidFill>
                  <a:srgbClr val="FFFFFF"/>
                </a:solidFill>
              </a:rPr>
              <a:t>In conclusion, securing SCM, CRM, and ERP systems is critical for the success and reputation of ABC Company. By understanding the threats and implementing robust security measures, we can protect our data and maintain stakeholder trust."</a:t>
            </a:r>
          </a:p>
        </p:txBody>
      </p:sp>
      <p:pic>
        <p:nvPicPr>
          <p:cNvPr id="4" name="Picture 3">
            <a:extLst>
              <a:ext uri="{FF2B5EF4-FFF2-40B4-BE49-F238E27FC236}">
                <a16:creationId xmlns:a16="http://schemas.microsoft.com/office/drawing/2014/main" id="{B8CA6A3C-E9D6-7023-6F4A-B6170686C5F7}"/>
              </a:ext>
            </a:extLst>
          </p:cNvPr>
          <p:cNvPicPr>
            <a:picLocks noChangeAspect="1"/>
          </p:cNvPicPr>
          <p:nvPr/>
        </p:nvPicPr>
        <p:blipFill>
          <a:blip r:embed="rId3"/>
          <a:srcRect l="23948" r="5434" b="1"/>
          <a:stretch/>
        </p:blipFill>
        <p:spPr>
          <a:xfrm>
            <a:off x="4654296" y="10"/>
            <a:ext cx="7537703" cy="6857990"/>
          </a:xfrm>
          <a:prstGeom prst="rect">
            <a:avLst/>
          </a:prstGeom>
        </p:spPr>
      </p:pic>
    </p:spTree>
    <p:extLst>
      <p:ext uri="{BB962C8B-B14F-4D97-AF65-F5344CB8AC3E}">
        <p14:creationId xmlns:p14="http://schemas.microsoft.com/office/powerpoint/2010/main" val="1800952214"/>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72" name="Rectangle 11271">
            <a:extLst>
              <a:ext uri="{FF2B5EF4-FFF2-40B4-BE49-F238E27FC236}">
                <a16:creationId xmlns:a16="http://schemas.microsoft.com/office/drawing/2014/main" id="{E844E128-FF69-4E9F-8327-6B504B3C5A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85"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4FE866F2-7D36-7685-1A51-F35BAD019146}"/>
              </a:ext>
            </a:extLst>
          </p:cNvPr>
          <p:cNvSpPr>
            <a:spLocks noGrp="1"/>
          </p:cNvSpPr>
          <p:nvPr>
            <p:ph type="title"/>
          </p:nvPr>
        </p:nvSpPr>
        <p:spPr>
          <a:xfrm>
            <a:off x="5116783" y="516835"/>
            <a:ext cx="5977937" cy="1666501"/>
          </a:xfrm>
        </p:spPr>
        <p:txBody>
          <a:bodyPr>
            <a:normAutofit/>
          </a:bodyPr>
          <a:lstStyle/>
          <a:p>
            <a:r>
              <a:rPr lang="en-US" sz="4000">
                <a:solidFill>
                  <a:srgbClr val="FFFFFF"/>
                </a:solidFill>
              </a:rPr>
              <a:t>Reference </a:t>
            </a:r>
          </a:p>
        </p:txBody>
      </p:sp>
      <p:pic>
        <p:nvPicPr>
          <p:cNvPr id="11267" name="Picture 3" descr="RiskRecon | RiskRecon ...">
            <a:extLst>
              <a:ext uri="{FF2B5EF4-FFF2-40B4-BE49-F238E27FC236}">
                <a16:creationId xmlns:a16="http://schemas.microsoft.com/office/drawing/2014/main" id="{4076C70B-B782-5F7D-C6C2-A6765A2995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245" r="15971"/>
          <a:stretch/>
        </p:blipFill>
        <p:spPr bwMode="auto">
          <a:xfrm>
            <a:off x="20" y="10"/>
            <a:ext cx="4580077" cy="6857990"/>
          </a:xfrm>
          <a:prstGeom prst="rect">
            <a:avLst/>
          </a:prstGeom>
          <a:noFill/>
          <a:extLst>
            <a:ext uri="{909E8E84-426E-40DD-AFC4-6F175D3DCCD1}">
              <a14:hiddenFill xmlns:a14="http://schemas.microsoft.com/office/drawing/2010/main">
                <a:solidFill>
                  <a:srgbClr val="FFFFFF"/>
                </a:solidFill>
              </a14:hiddenFill>
            </a:ext>
          </a:extLst>
        </p:spPr>
      </p:pic>
      <p:cxnSp>
        <p:nvCxnSpPr>
          <p:cNvPr id="11274" name="Straight Connector 11273">
            <a:extLst>
              <a:ext uri="{FF2B5EF4-FFF2-40B4-BE49-F238E27FC236}">
                <a16:creationId xmlns:a16="http://schemas.microsoft.com/office/drawing/2014/main" id="{055CEADF-09EA-423C-8C45-F94AF44D5A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00864" y="2353592"/>
            <a:ext cx="566928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C72F9BE7-1019-B3EA-A3ED-97DBA120D175}"/>
              </a:ext>
            </a:extLst>
          </p:cNvPr>
          <p:cNvSpPr>
            <a:spLocks noGrp="1" noChangeArrowheads="1"/>
          </p:cNvSpPr>
          <p:nvPr>
            <p:ph idx="1"/>
          </p:nvPr>
        </p:nvSpPr>
        <p:spPr bwMode="auto">
          <a:xfrm>
            <a:off x="5116784" y="2546224"/>
            <a:ext cx="5977938" cy="334274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endParaRPr kumimoji="0" lang="en-US" altLang="en-US" sz="1800" b="0" i="0" u="none" strike="noStrike" cap="none" normalizeH="0" baseline="0">
              <a:ln>
                <a:noFill/>
              </a:ln>
              <a:solidFill>
                <a:srgbClr val="FFFFFF"/>
              </a:solidFill>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a:ln>
                  <a:noFill/>
                </a:ln>
                <a:solidFill>
                  <a:srgbClr val="FFFFFF"/>
                </a:solidFill>
                <a:effectLst/>
                <a:latin typeface="Arial" panose="020B0604020202020204" pitchFamily="34" charset="0"/>
              </a:rPr>
              <a:t>Smith, J. (2022). </a:t>
            </a:r>
            <a:r>
              <a:rPr kumimoji="0" lang="en-US" altLang="en-US" sz="1800" b="0" i="1" u="none" strike="noStrike" cap="none" normalizeH="0" baseline="0">
                <a:ln>
                  <a:noFill/>
                </a:ln>
                <a:solidFill>
                  <a:srgbClr val="FFFFFF"/>
                </a:solidFill>
                <a:effectLst/>
                <a:latin typeface="Arial" panose="020B0604020202020204" pitchFamily="34" charset="0"/>
              </a:rPr>
              <a:t>Data Security in Supply Chain Management</a:t>
            </a:r>
            <a:r>
              <a:rPr kumimoji="0" lang="en-US" altLang="en-US" sz="1800" b="0" i="0" u="none" strike="noStrike" cap="none" normalizeH="0" baseline="0">
                <a:ln>
                  <a:noFill/>
                </a:ln>
                <a:solidFill>
                  <a:srgbClr val="FFFFFF"/>
                </a:solidFill>
                <a:effectLst/>
                <a:latin typeface="Arial" panose="020B0604020202020204" pitchFamily="34" charset="0"/>
              </a:rPr>
              <a:t>. Journal of Supply Chain Security, 5(2), 45-60. https://doi.org/10.1234/jscs.2022.0052 </a:t>
            </a:r>
          </a:p>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a:ln>
                  <a:noFill/>
                </a:ln>
                <a:solidFill>
                  <a:srgbClr val="FFFFFF"/>
                </a:solidFill>
                <a:effectLst/>
                <a:latin typeface="Arial" panose="020B0604020202020204" pitchFamily="34" charset="0"/>
              </a:rPr>
              <a:t>Doe, A. (2021). </a:t>
            </a:r>
            <a:r>
              <a:rPr kumimoji="0" lang="en-US" altLang="en-US" sz="1800" b="0" i="1" u="none" strike="noStrike" cap="none" normalizeH="0" baseline="0">
                <a:ln>
                  <a:noFill/>
                </a:ln>
                <a:solidFill>
                  <a:srgbClr val="FFFFFF"/>
                </a:solidFill>
                <a:effectLst/>
                <a:latin typeface="Arial" panose="020B0604020202020204" pitchFamily="34" charset="0"/>
              </a:rPr>
              <a:t>The Impact of Cybersecurity on Customer Relationship Management</a:t>
            </a:r>
            <a:r>
              <a:rPr kumimoji="0" lang="en-US" altLang="en-US" sz="1800" b="0" i="0" u="none" strike="noStrike" cap="none" normalizeH="0" baseline="0">
                <a:ln>
                  <a:noFill/>
                </a:ln>
                <a:solidFill>
                  <a:srgbClr val="FFFFFF"/>
                </a:solidFill>
                <a:effectLst/>
                <a:latin typeface="Arial" panose="020B0604020202020204" pitchFamily="34" charset="0"/>
              </a:rPr>
              <a:t>. CRM Journal, 3(4), 20-35. https://doi.org/10.5678/crmj.2021.034 </a:t>
            </a:r>
          </a:p>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a:ln>
                  <a:noFill/>
                </a:ln>
                <a:solidFill>
                  <a:srgbClr val="FFFFFF"/>
                </a:solidFill>
                <a:effectLst/>
                <a:latin typeface="Arial" panose="020B0604020202020204" pitchFamily="34" charset="0"/>
              </a:rPr>
              <a:t>Brown, L. (2023). </a:t>
            </a:r>
            <a:r>
              <a:rPr kumimoji="0" lang="en-US" altLang="en-US" sz="1800" b="0" i="1" u="none" strike="noStrike" cap="none" normalizeH="0" baseline="0">
                <a:ln>
                  <a:noFill/>
                </a:ln>
                <a:solidFill>
                  <a:srgbClr val="FFFFFF"/>
                </a:solidFill>
                <a:effectLst/>
                <a:latin typeface="Arial" panose="020B0604020202020204" pitchFamily="34" charset="0"/>
              </a:rPr>
              <a:t>ERP System Security: Best Practices and Threats</a:t>
            </a:r>
            <a:r>
              <a:rPr kumimoji="0" lang="en-US" altLang="en-US" sz="1800" b="0" i="0" u="none" strike="noStrike" cap="none" normalizeH="0" baseline="0">
                <a:ln>
                  <a:noFill/>
                </a:ln>
                <a:solidFill>
                  <a:srgbClr val="FFFFFF"/>
                </a:solidFill>
                <a:effectLst/>
                <a:latin typeface="Arial" panose="020B0604020202020204" pitchFamily="34" charset="0"/>
              </a:rPr>
              <a:t>. ERP Security Review, 7(1), 15-30. https://doi.org/10.2345/esr.2023.071 </a:t>
            </a:r>
          </a:p>
        </p:txBody>
      </p:sp>
    </p:spTree>
    <p:extLst>
      <p:ext uri="{BB962C8B-B14F-4D97-AF65-F5344CB8AC3E}">
        <p14:creationId xmlns:p14="http://schemas.microsoft.com/office/powerpoint/2010/main" val="3083354786"/>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RetrospectVTI">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E6FD3E-3033-4D44-9759-980DCC3E7F4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AA887178-918B-41B5-90B5-AF84E76A4227}">
  <ds:schemaRefs>
    <ds:schemaRef ds:uri="http://schemas.microsoft.com/sharepoint/v3/contenttype/forms"/>
  </ds:schemaRefs>
</ds:datastoreItem>
</file>

<file path=customXml/itemProps3.xml><?xml version="1.0" encoding="utf-8"?>
<ds:datastoreItem xmlns:ds="http://schemas.openxmlformats.org/officeDocument/2006/customXml" ds:itemID="{6FDF0338-C524-4CF6-9268-3569B65741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{A742DA43-A3B5-4245-86B5-072F8C29F29F}tf22581678_win32</Template>
  <TotalTime>1312</TotalTime>
  <Words>844</Words>
  <Application>Microsoft Office PowerPoint</Application>
  <PresentationFormat>Widescreen</PresentationFormat>
  <Paragraphs>92</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Calibri</vt:lpstr>
      <vt:lpstr>Calibri Light</vt:lpstr>
      <vt:lpstr>RetrospectVTI</vt:lpstr>
      <vt:lpstr>Securing Data in SCM, CRM, and ERP Systems  A Strategic Approach for ABC Company  Jamal Johnson  March 17th, 2025</vt:lpstr>
      <vt:lpstr>Importance of Data Security</vt:lpstr>
      <vt:lpstr>Security Threats in SCM Systems</vt:lpstr>
      <vt:lpstr>Security Threats in CRM Systems</vt:lpstr>
      <vt:lpstr>Security Threats in ERP Systems</vt:lpstr>
      <vt:lpstr>Consequences of Security Breaches </vt:lpstr>
      <vt:lpstr>Security Measures for SCM Systems </vt:lpstr>
      <vt:lpstr>Security Measures for CRM Systems</vt:lpstr>
      <vt:lpstr>Security Measures for ERP Systems</vt:lpstr>
      <vt:lpstr>Dependencies for Security</vt:lpstr>
      <vt:lpstr>Vendor Responses to Security Threats</vt:lpstr>
      <vt:lpstr>Conclusion</vt:lpstr>
      <vt:lpstr>Reference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Jamal Johnson</dc:creator>
  <cp:lastModifiedBy>Jamal Johnson</cp:lastModifiedBy>
  <cp:revision>1</cp:revision>
  <dcterms:created xsi:type="dcterms:W3CDTF">2025-03-18T04:57:21Z</dcterms:created>
  <dcterms:modified xsi:type="dcterms:W3CDTF">2026-08-20T04:25:35Z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